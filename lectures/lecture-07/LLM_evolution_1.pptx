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95" r:id="rId2"/>
    <p:sldId id="261" r:id="rId3"/>
    <p:sldId id="321" r:id="rId4"/>
    <p:sldId id="344" r:id="rId5"/>
    <p:sldId id="323" r:id="rId6"/>
    <p:sldId id="345" r:id="rId7"/>
    <p:sldId id="324" r:id="rId8"/>
    <p:sldId id="346" r:id="rId9"/>
    <p:sldId id="347" r:id="rId10"/>
    <p:sldId id="348" r:id="rId11"/>
    <p:sldId id="349" r:id="rId12"/>
    <p:sldId id="350" r:id="rId13"/>
    <p:sldId id="352" r:id="rId14"/>
    <p:sldId id="353" r:id="rId15"/>
    <p:sldId id="354" r:id="rId16"/>
    <p:sldId id="326" r:id="rId17"/>
    <p:sldId id="355" r:id="rId18"/>
    <p:sldId id="265" r:id="rId19"/>
    <p:sldId id="356" r:id="rId20"/>
    <p:sldId id="357" r:id="rId21"/>
    <p:sldId id="257" r:id="rId22"/>
    <p:sldId id="264" r:id="rId23"/>
    <p:sldId id="258" r:id="rId24"/>
    <p:sldId id="260" r:id="rId25"/>
    <p:sldId id="358" r:id="rId26"/>
    <p:sldId id="266" r:id="rId27"/>
    <p:sldId id="267" r:id="rId28"/>
    <p:sldId id="268" r:id="rId29"/>
    <p:sldId id="359" r:id="rId30"/>
    <p:sldId id="270" r:id="rId31"/>
    <p:sldId id="281" r:id="rId32"/>
    <p:sldId id="262" r:id="rId33"/>
    <p:sldId id="271" r:id="rId34"/>
    <p:sldId id="272" r:id="rId35"/>
    <p:sldId id="282" r:id="rId36"/>
    <p:sldId id="274" r:id="rId37"/>
    <p:sldId id="273" r:id="rId38"/>
    <p:sldId id="275" r:id="rId39"/>
    <p:sldId id="276" r:id="rId40"/>
    <p:sldId id="277" r:id="rId41"/>
    <p:sldId id="278" r:id="rId42"/>
    <p:sldId id="279" r:id="rId43"/>
    <p:sldId id="280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8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E2074-33BD-4093-9B78-D53EB3D13198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0CB47-D796-44F2-AC78-677B9951EF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6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62BF4-7013-37B5-FD19-F4DAE9704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021FE3-3513-03B9-C662-AB5EC1EEE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6CABC-B8CA-B52B-ED57-17E33C79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4D7B56-42C3-944B-2B44-068464B6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0CAAD1-7958-54AD-106B-55D761A1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2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A9109-4F86-5089-E4A4-9C5A1EE5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9E796-96A8-13C0-BBE7-D49D15F6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E5300D-17C3-5945-62F6-EE0F60DE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B236DB-D4C1-2470-AA9C-8A2FCD1E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5D05D-F6AC-02B0-7D2C-5105FD44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6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E9211-E69C-44A4-3A92-564AD5FA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02166-8723-CF11-E5F9-162DD0AB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5B37B-FA95-A1DB-530B-9569B485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1B0BA-FFCB-2512-0F68-B9C62CF5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1D30A-0CD8-B10B-8EEC-D1A8010E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6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870C8-D4C8-3FDF-3983-58E867CB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3B98A-1EDD-2519-7538-F67415B6A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9F155-0609-D4EB-224B-3465C9B32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1A7C43-9386-9124-FC5C-AFBC632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DCCBED-3C66-47BD-32BC-8D431A8A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B49B0A-0E21-18F0-7AE4-B56DE0C4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72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76F5B-DEFE-FCD5-05AC-90B6E8FD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80F4A8-99FB-86ED-2007-00C8F252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BA10C1-F33A-791E-BB18-8DE3E2BE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C7E054-D599-6BC3-28C8-02F1C86D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F42B2C-E766-43A2-03B2-15D64B703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3B19F9-77DF-4CC9-0C62-EC07A641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C16E5-03AA-86AD-5041-981629FE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1401B5-52A7-EE97-E35C-0E18BB30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10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3338-A7E2-A262-74F5-40A49F53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4E65E0-A9B4-C480-9F32-770119A7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9BB281-EB2D-1DA0-8F50-E632F08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F4B57-6CC3-65F6-ABE1-3BAEF41E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2FBC62-172E-3CC7-A284-380018A8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4A74E2-8C1D-81E4-8F63-3445D526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3BDB03-EB88-223C-642F-D36CAA99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85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9DAC5-05E6-AD7D-C60A-890C705B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EBFB5-2635-CEB9-65B9-3FC6540C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B46283-E988-3E58-91A3-1E18922ED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9DBBE8-D995-670C-1580-AE797FB0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CB45D-F698-F02E-BF25-9D662007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791D88-3919-2E21-B238-376F35DD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79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AFDD0-727B-7362-61F2-5785625C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D6CDBE-AD22-ECAC-8A7C-A1CF2664A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919CE-3BE3-4340-9FF9-B7FF70182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6DDA1B-268B-F7EB-0177-551E2A6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B1CAD5-1BA4-06CC-3287-D3B71C60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5889E0-5D4E-A47D-FE63-E93BF0B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48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B6E84-E01E-A7BE-7F7C-B863C581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FCB32-2F1F-7783-3F95-5C039856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B2B8C-B97D-AA5B-850F-B4ECB4C4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AC2AA-9950-B8C9-8E59-A3E244C9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0F3A47-F3AC-F27C-B612-F56C86BC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47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047014-9CB3-E9DE-0A25-59C274642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52AD17-96DA-7B1E-2570-A76E00319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60232-0317-9FCF-7BE1-C0443531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3EE93-9CA4-87E8-A0C9-7A3037E6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DB52FD-709C-6CB3-8C1D-69E8D21B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33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08E86-9FC6-B231-EF30-FB6447C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424342-DF15-0D16-9A30-86ED6D0DE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D6948-5AE3-EA8A-2304-7479C08D8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5C212-0096-4947-A1C7-4E4924B880D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38215-4625-560F-439F-6D2C8DD71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68D13-4E06-146C-807B-B391347FA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21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10.0480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rxiv.org/abs/1907.11692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rxiv.org/abs/1910.01108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09.11942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openai.com/better-language-models/language_models_are_unsupervised_multitask_learners.pdf" TargetMode="External"/><Relationship Id="rId2" Type="http://schemas.openxmlformats.org/officeDocument/2006/relationships/hyperlink" Target="https://cdn.openai.com/research-covers/language-unsupervised/language_understanding_paper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5.14165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10683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7.14062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1.04451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9.14794" TargetMode="External"/><Relationship Id="rId7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hyperlink" Target="https://arxiv.org/abs/2202.08791" TargetMode="External"/><Relationship Id="rId4" Type="http://schemas.openxmlformats.org/officeDocument/2006/relationships/hyperlink" Target="https://arxiv.org/abs/2006.04768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2534194"/>
            <a:ext cx="10931658" cy="1140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3600" dirty="0"/>
              <a:t>Эволюция трансформеров до наших дней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Encoder </a:t>
            </a:r>
            <a:r>
              <a:rPr lang="en-US" b="1" dirty="0"/>
              <a:t>VS</a:t>
            </a:r>
            <a:r>
              <a:rPr lang="en-US" dirty="0"/>
              <a:t> Decoder </a:t>
            </a:r>
            <a:r>
              <a:rPr lang="en-US" b="1" dirty="0"/>
              <a:t>VS</a:t>
            </a:r>
            <a:r>
              <a:rPr lang="en-US" dirty="0"/>
              <a:t> Encoder-Decoder</a:t>
            </a:r>
            <a:endParaRPr lang="ru-RU" dirty="0"/>
          </a:p>
        </p:txBody>
      </p:sp>
      <p:pic>
        <p:nvPicPr>
          <p:cNvPr id="9218" name="Picture 2" descr="Aman's AI Journal • Primers • Encoder vs. Decoder vs. Encoder-Decoder Models">
            <a:extLst>
              <a:ext uri="{FF2B5EF4-FFF2-40B4-BE49-F238E27FC236}">
                <a16:creationId xmlns:a16="http://schemas.microsoft.com/office/drawing/2014/main" id="{83D4FE64-1EEC-2F48-6F87-76F9DCAFBB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7"/>
          <a:stretch>
            <a:fillRect/>
          </a:stretch>
        </p:blipFill>
        <p:spPr bwMode="auto">
          <a:xfrm>
            <a:off x="3529650" y="1690688"/>
            <a:ext cx="5132699" cy="494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26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3793B-0596-A14A-DD7D-5E3D917E0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385651" cy="411344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BERT</a:t>
            </a:r>
            <a:r>
              <a:rPr lang="en-US" dirty="0"/>
              <a:t> - Bidirectional Encoder Representations from Transformers</a:t>
            </a:r>
            <a:endParaRPr lang="ru-RU" dirty="0"/>
          </a:p>
          <a:p>
            <a:r>
              <a:rPr lang="ru-RU" dirty="0"/>
              <a:t>Идея – учить трансформер как </a:t>
            </a:r>
            <a:r>
              <a:rPr lang="en-US" b="1" dirty="0"/>
              <a:t>Masked Language Model</a:t>
            </a:r>
            <a:r>
              <a:rPr lang="en-US" dirty="0"/>
              <a:t> </a:t>
            </a:r>
            <a:r>
              <a:rPr lang="ru-RU" dirty="0"/>
              <a:t>для предсказания слова в контексте, а также на задаче </a:t>
            </a:r>
            <a:r>
              <a:rPr lang="en-US" b="1" dirty="0"/>
              <a:t>Next Sentence Prediction</a:t>
            </a:r>
            <a:r>
              <a:rPr lang="en-US" dirty="0"/>
              <a:t>.</a:t>
            </a:r>
          </a:p>
          <a:p>
            <a:r>
              <a:rPr lang="ru-RU" dirty="0"/>
              <a:t>Можно </a:t>
            </a:r>
            <a:r>
              <a:rPr lang="ru-RU" dirty="0" err="1"/>
              <a:t>дообучить</a:t>
            </a:r>
            <a:r>
              <a:rPr lang="ru-RU" dirty="0"/>
              <a:t> для более специфичных задач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BERT (языковая модель) — Викиконспекты">
            <a:extLst>
              <a:ext uri="{FF2B5EF4-FFF2-40B4-BE49-F238E27FC236}">
                <a16:creationId xmlns:a16="http://schemas.microsoft.com/office/drawing/2014/main" id="{BEB591E5-EA67-1DF6-3255-9D4264A28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880" y="1690688"/>
            <a:ext cx="4635473" cy="401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9C71A4-0FF5-1D22-D3D2-BE919E6E0846}"/>
              </a:ext>
            </a:extLst>
          </p:cNvPr>
          <p:cNvSpPr txBox="1"/>
          <p:nvPr/>
        </p:nvSpPr>
        <p:spPr>
          <a:xfrm>
            <a:off x="838198" y="6382915"/>
            <a:ext cx="8020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BERT: Pre-training of Deep Bidirectional Transformers for Language Understanding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172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9B8A-F2FF-1901-7B2D-292B9E56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D1D31-8F05-0CF8-E5E0-B1A1A0C5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– постановка задачи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6A6E1A9-8135-0BAD-A1A0-D2BEDA35AC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4D73DB-D5E4-9A57-5894-F2152EFE9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4953002" cy="4436279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MLM (</a:t>
            </a:r>
            <a:r>
              <a:rPr lang="ru-RU" b="1" dirty="0" err="1"/>
              <a:t>masked</a:t>
            </a:r>
            <a:r>
              <a:rPr lang="ru-RU" b="1" dirty="0"/>
              <a:t> </a:t>
            </a:r>
            <a:r>
              <a:rPr lang="ru-RU" b="1" dirty="0" err="1"/>
              <a:t>language</a:t>
            </a:r>
            <a:r>
              <a:rPr lang="ru-RU" b="1" dirty="0"/>
              <a:t> </a:t>
            </a:r>
            <a:r>
              <a:rPr lang="ru-RU" b="1" dirty="0" err="1"/>
              <a:t>model</a:t>
            </a:r>
            <a:r>
              <a:rPr lang="en-US" b="1" dirty="0" err="1"/>
              <a:t>ing</a:t>
            </a:r>
            <a:r>
              <a:rPr lang="ru-RU" b="1" dirty="0"/>
              <a:t>) </a:t>
            </a:r>
            <a:r>
              <a:rPr lang="ru-RU" dirty="0"/>
              <a:t>— предсказание маскированных токенов. Для этой задачи появляется специальный токен </a:t>
            </a:r>
            <a:r>
              <a:rPr lang="en-US" dirty="0"/>
              <a:t>[MASK]</a:t>
            </a:r>
          </a:p>
          <a:p>
            <a:r>
              <a:rPr lang="ru-RU" b="1" dirty="0"/>
              <a:t>NSP (Next </a:t>
            </a:r>
            <a:r>
              <a:rPr lang="ru-RU" b="1" dirty="0" err="1"/>
              <a:t>Sentence</a:t>
            </a:r>
            <a:r>
              <a:rPr lang="ru-RU" b="1" dirty="0"/>
              <a:t> </a:t>
            </a:r>
            <a:r>
              <a:rPr lang="ru-RU" b="1" dirty="0" err="1"/>
              <a:t>Prediction</a:t>
            </a:r>
            <a:r>
              <a:rPr lang="ru-RU" b="1" dirty="0"/>
              <a:t>) </a:t>
            </a:r>
            <a:r>
              <a:rPr lang="ru-RU" dirty="0"/>
              <a:t>— предсказание, следует ли текущее предложение за предыдущим. Для этого появляются специальные токены </a:t>
            </a:r>
            <a:r>
              <a:rPr lang="ru-RU" b="1" dirty="0"/>
              <a:t>[CLS] </a:t>
            </a:r>
            <a:r>
              <a:rPr lang="ru-RU" dirty="0"/>
              <a:t>(для классификации) и </a:t>
            </a:r>
            <a:r>
              <a:rPr lang="ru-RU" b="1" dirty="0"/>
              <a:t>[SEP] </a:t>
            </a:r>
            <a:r>
              <a:rPr lang="ru-RU" dirty="0"/>
              <a:t>(для разделения предложений, которые подаются парой и следуют друг за другом).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Для предсказания замаскированного токена используется дополнительный слой — классификатор. Аналогично, для решения задачи NSP выход токена [CLS] отправляется на </a:t>
            </a:r>
            <a:r>
              <a:rPr lang="ru-RU" dirty="0" err="1"/>
              <a:t>полносвязную</a:t>
            </a:r>
            <a:r>
              <a:rPr lang="ru-RU" dirty="0"/>
              <a:t> сеть.</a:t>
            </a:r>
          </a:p>
          <a:p>
            <a:endParaRPr lang="ru-RU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B9954C6-2722-4E3F-DF6B-B9B2E08164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61A5AE-FB28-D91B-A584-CF7835288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576" y="1724025"/>
            <a:ext cx="353377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8B8443B-032D-6000-7BF2-3E8D25C81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425" y="4294751"/>
            <a:ext cx="364807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16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– представление данных на входе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F69DE9-C7D1-7978-CC17-E3CE41DDD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91" y="2240608"/>
            <a:ext cx="9194618" cy="283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84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AD824-50A5-BE50-378E-10C400E4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1703E-E8B2-1B87-A4AE-5E6093C0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– </a:t>
            </a:r>
            <a:r>
              <a:rPr lang="en-US" dirty="0"/>
              <a:t>encoder-only </a:t>
            </a:r>
            <a:r>
              <a:rPr lang="ru-RU" dirty="0"/>
              <a:t>модель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46ACA6E-9472-6053-3012-0B7732C65E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1174D57-CB05-7AC8-13D3-F9DC1DB522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F9C0C0-DF60-C435-AD25-09F23EF92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546" y="1865712"/>
            <a:ext cx="6690107" cy="462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320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– </a:t>
            </a:r>
            <a:r>
              <a:rPr lang="ru-RU" dirty="0" err="1"/>
              <a:t>дообучение</a:t>
            </a:r>
            <a:r>
              <a:rPr lang="ru-RU" dirty="0"/>
              <a:t> </a:t>
            </a:r>
            <a:r>
              <a:rPr lang="en-US" dirty="0"/>
              <a:t>(finetuning)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BBE424-079E-A1F5-820E-FD6C0465F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431" y="1872747"/>
            <a:ext cx="5119138" cy="498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84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6D7C2-C045-56FB-796D-576E1D1B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E546A-295D-D885-D034-ED79D6E7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– результаты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773E67A-E8B0-D06F-A1C3-3EFAAF95B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8B579AC-09EC-43A3-ECAD-9C8E123F9C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2661553-2BAF-A66B-D29D-05962FBB8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183" y="2174052"/>
            <a:ext cx="9427234" cy="196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27871A2A-83E9-68F5-68DE-7B80E4C8B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667" y="4773652"/>
            <a:ext cx="37147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1B638174-C472-11B8-E00E-E2358E2E0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183" y="4773652"/>
            <a:ext cx="4953002" cy="937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</a:t>
            </a:r>
            <a:r>
              <a:rPr lang="ru-RU" dirty="0"/>
              <a:t>был представлен в двух вариантах</a:t>
            </a:r>
          </a:p>
        </p:txBody>
      </p:sp>
    </p:spTree>
    <p:extLst>
      <p:ext uri="{BB962C8B-B14F-4D97-AF65-F5344CB8AC3E}">
        <p14:creationId xmlns:p14="http://schemas.microsoft.com/office/powerpoint/2010/main" val="319545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DF28-01DE-C271-2E49-08DA0469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AF4EE-96A7-38C4-6DBA-CA1EA27B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50 оттенков </a:t>
            </a:r>
            <a:r>
              <a:rPr lang="en-US" dirty="0"/>
              <a:t>BERT-</a:t>
            </a:r>
            <a:r>
              <a:rPr lang="ru-RU" dirty="0"/>
              <a:t>моделей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CFB2EEA-941C-916A-670F-566301DE0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487C6E44-5025-BB13-FD24-D7FC504609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71D224B-59C9-3AC9-A378-DADA982C8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904" y="1852732"/>
            <a:ext cx="7292192" cy="425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315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DFE1-9441-7F7F-D744-86FB0549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339DC-A9AC-68CC-AB59-ACD93A3A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RoBERTa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9864C6F-FD83-EBDC-F98A-2D9851E389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D4EF4C9-D806-D74B-FC33-71AEC0825D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015C3-443A-619E-9975-78B62D0D4519}"/>
              </a:ext>
            </a:extLst>
          </p:cNvPr>
          <p:cNvSpPr txBox="1"/>
          <p:nvPr/>
        </p:nvSpPr>
        <p:spPr>
          <a:xfrm>
            <a:off x="838198" y="6382915"/>
            <a:ext cx="5809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RoBERTa: A Robustly Optimized BERT Pretraining Approach</a:t>
            </a:r>
            <a:endParaRPr lang="en-US" dirty="0"/>
          </a:p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A85CC2F-94BA-8529-84F3-1EE6D257F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385651" cy="411344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Увеличение датасета в 10 раз.</a:t>
            </a:r>
          </a:p>
          <a:p>
            <a:r>
              <a:rPr lang="ru-RU" dirty="0"/>
              <a:t>Увеличение </a:t>
            </a:r>
            <a:r>
              <a:rPr lang="ru-RU" dirty="0" err="1"/>
              <a:t>батча</a:t>
            </a:r>
            <a:r>
              <a:rPr lang="ru-RU" dirty="0"/>
              <a:t> от 256 до 8000 и больший словарь — от 30k до 50k.</a:t>
            </a:r>
          </a:p>
          <a:p>
            <a:r>
              <a:rPr lang="ru-RU" dirty="0"/>
              <a:t>Более длинные обучающие последовательности, но </a:t>
            </a:r>
            <a:r>
              <a:rPr lang="ru-RU" dirty="0" err="1"/>
              <a:t>RoBERTa</a:t>
            </a:r>
            <a:r>
              <a:rPr lang="ru-RU" dirty="0"/>
              <a:t> по-прежнему имеет ограничение на максимальное количество токенов — 512, как и у BERT.</a:t>
            </a:r>
          </a:p>
          <a:p>
            <a:r>
              <a:rPr lang="ru-RU" dirty="0"/>
              <a:t>Динамическое маскирование позволяет маскирующей схеме меняться при каждой подаче последовательности на модель. Отличие от BERT в том, что везде используется одна и та же маскирующая схема.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9F61738-FB44-39CF-C6B5-548434049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76" y="1690688"/>
            <a:ext cx="6228928" cy="31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147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891C-0676-8A8D-F88C-BCAF78E4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9AE27-3251-02AE-1CD2-B26E267D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DistilBERT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463F871-A6C3-1335-18F2-BB9A1209E2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92EF348-C289-1CEA-79B2-A98BA1FA1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59734-5AFA-719F-FC66-FF59E5569501}"/>
              </a:ext>
            </a:extLst>
          </p:cNvPr>
          <p:cNvSpPr txBox="1"/>
          <p:nvPr/>
        </p:nvSpPr>
        <p:spPr>
          <a:xfrm>
            <a:off x="838198" y="6382915"/>
            <a:ext cx="709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DistilBERT, a distilled version of BERT: smaller, faster, cheaper and lighter</a:t>
            </a:r>
            <a:endParaRPr lang="en-US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0B6C040-57AD-39F6-A5CC-BCBA88D2C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4385651" cy="44362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Использует почти ту же архитектуру, что и BERT, но только с 6 блоками </a:t>
            </a:r>
            <a:r>
              <a:rPr lang="ru-RU" dirty="0" err="1"/>
              <a:t>энкодера</a:t>
            </a:r>
            <a:r>
              <a:rPr lang="ru-RU" dirty="0"/>
              <a:t> (в </a:t>
            </a:r>
            <a:r>
              <a:rPr lang="ru-RU" dirty="0" err="1"/>
              <a:t>base</a:t>
            </a:r>
            <a:r>
              <a:rPr lang="ru-RU" dirty="0"/>
              <a:t> BERT их 12). Эти блоки инициализируются простым взятием одного из каждых двух </a:t>
            </a:r>
            <a:r>
              <a:rPr lang="ru-RU" dirty="0" err="1"/>
              <a:t>предобученных</a:t>
            </a:r>
            <a:r>
              <a:rPr lang="ru-RU" dirty="0"/>
              <a:t> блоков </a:t>
            </a:r>
            <a:r>
              <a:rPr lang="ru-RU" dirty="0" err="1"/>
              <a:t>энкодеров</a:t>
            </a:r>
            <a:r>
              <a:rPr lang="ru-RU" dirty="0"/>
              <a:t> BERT.</a:t>
            </a:r>
          </a:p>
          <a:p>
            <a:r>
              <a:rPr lang="ru-RU" dirty="0"/>
              <a:t>В отличие от BERT, </a:t>
            </a:r>
            <a:r>
              <a:rPr lang="ru-RU" dirty="0" err="1"/>
              <a:t>DistilBERT</a:t>
            </a:r>
            <a:r>
              <a:rPr lang="ru-RU" dirty="0"/>
              <a:t> </a:t>
            </a:r>
            <a:r>
              <a:rPr lang="ru-RU" dirty="0" err="1"/>
              <a:t>предобучается</a:t>
            </a:r>
            <a:r>
              <a:rPr lang="ru-RU" dirty="0"/>
              <a:t> только через моделирование языка по маске (оставили MLM и убрали Next </a:t>
            </a:r>
            <a:r>
              <a:rPr lang="ru-RU" dirty="0" err="1"/>
              <a:t>Sentence</a:t>
            </a:r>
            <a:r>
              <a:rPr lang="ru-RU" dirty="0"/>
              <a:t> </a:t>
            </a:r>
            <a:r>
              <a:rPr lang="ru-RU" dirty="0" err="1"/>
              <a:t>Prediction</a:t>
            </a:r>
            <a:r>
              <a:rPr lang="ru-RU" dirty="0"/>
              <a:t>). </a:t>
            </a:r>
            <a:r>
              <a:rPr lang="ru-RU" dirty="0" err="1"/>
              <a:t>DistilBERT</a:t>
            </a:r>
            <a:r>
              <a:rPr lang="ru-RU" dirty="0"/>
              <a:t> обучается с использованием тройного </a:t>
            </a:r>
            <a:r>
              <a:rPr lang="ru-RU" dirty="0" err="1"/>
              <a:t>лосса</a:t>
            </a:r>
            <a:r>
              <a:rPr lang="ru-RU" dirty="0"/>
              <a:t>:</a:t>
            </a:r>
          </a:p>
          <a:p>
            <a:r>
              <a:rPr lang="ru-RU" dirty="0"/>
              <a:t>Тот же </a:t>
            </a:r>
            <a:r>
              <a:rPr lang="ru-RU" dirty="0" err="1"/>
              <a:t>лосс</a:t>
            </a:r>
            <a:r>
              <a:rPr lang="ru-RU" dirty="0"/>
              <a:t> языковой модели, что и в BERT;</a:t>
            </a:r>
          </a:p>
          <a:p>
            <a:r>
              <a:rPr lang="ru-RU" dirty="0" err="1"/>
              <a:t>Лосс</a:t>
            </a:r>
            <a:r>
              <a:rPr lang="ru-RU" dirty="0"/>
              <a:t> дистилляции измеряет сходство выходов между </a:t>
            </a:r>
            <a:r>
              <a:rPr lang="ru-RU" dirty="0" err="1"/>
              <a:t>DistilBERT</a:t>
            </a:r>
            <a:r>
              <a:rPr lang="ru-RU" dirty="0"/>
              <a:t> и BERT;</a:t>
            </a:r>
          </a:p>
          <a:p>
            <a:r>
              <a:rPr lang="ru-RU" dirty="0" err="1"/>
              <a:t>Лосс</a:t>
            </a:r>
            <a:r>
              <a:rPr lang="ru-RU" dirty="0"/>
              <a:t> </a:t>
            </a:r>
            <a:r>
              <a:rPr lang="ru-RU" dirty="0" err="1"/>
              <a:t>косинусового</a:t>
            </a:r>
            <a:r>
              <a:rPr lang="ru-RU" dirty="0"/>
              <a:t> расстояния измеряет, насколько похожи скрытые состояния </a:t>
            </a:r>
            <a:r>
              <a:rPr lang="ru-RU" dirty="0" err="1"/>
              <a:t>DistilBERT</a:t>
            </a:r>
            <a:r>
              <a:rPr lang="ru-RU" dirty="0"/>
              <a:t> и BERT.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4F82927-3C9C-01C2-AAC2-E452E4340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036" y="1778883"/>
            <a:ext cx="7071964" cy="332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268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18C06-D01A-1885-705D-F852B6B9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4E6F3-79E1-6FA8-8B7C-D3AD8FB6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26B3E10-A9F5-514B-C714-51CBA92E85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E7ADA5B-1F90-E7F8-CB90-DBA9384FF7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F8D1D-4131-FC91-5D74-1B60B67082E9}"/>
              </a:ext>
            </a:extLst>
          </p:cNvPr>
          <p:cNvSpPr txBox="1"/>
          <p:nvPr/>
        </p:nvSpPr>
        <p:spPr>
          <a:xfrm>
            <a:off x="838198" y="6382915"/>
            <a:ext cx="7611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ALBERT: A Lite BERT for Self-supervised Learning of Language Representations</a:t>
            </a:r>
            <a:endParaRPr lang="en-US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E0CBF7E-CA88-6C90-A4FC-7740E5F3B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979554" cy="4285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Как и </a:t>
            </a:r>
            <a:r>
              <a:rPr lang="ru-RU" dirty="0" err="1"/>
              <a:t>DistilBERT</a:t>
            </a:r>
            <a:r>
              <a:rPr lang="ru-RU" dirty="0"/>
              <a:t>, ALBERT уменьшает размер модели BERT (в 18 раз меньше параметров), а также обучается в 1,7 раза быстрее.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Более того, ALBERT превосходит все предыдущие модели, включая BERT, </a:t>
            </a:r>
            <a:r>
              <a:rPr lang="ru-RU" dirty="0" err="1"/>
              <a:t>RoBERTa</a:t>
            </a:r>
            <a:r>
              <a:rPr lang="ru-RU" dirty="0"/>
              <a:t>, </a:t>
            </a:r>
            <a:r>
              <a:rPr lang="ru-RU" dirty="0" err="1"/>
              <a:t>DistilBERT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С помощью этих методов уменьшения параметров, ALBERT достигает результатов с меньшей архитектурой модели:</a:t>
            </a:r>
          </a:p>
          <a:p>
            <a:r>
              <a:rPr lang="ru-RU" dirty="0"/>
              <a:t>Факторизованная параметризация </a:t>
            </a:r>
            <a:r>
              <a:rPr lang="ru-RU" dirty="0" err="1"/>
              <a:t>эмбеддинга</a:t>
            </a:r>
            <a:endParaRPr lang="ru-RU" dirty="0"/>
          </a:p>
          <a:p>
            <a:r>
              <a:rPr lang="ru-RU" dirty="0"/>
              <a:t>Замена </a:t>
            </a:r>
            <a:r>
              <a:rPr lang="en-US" dirty="0"/>
              <a:t>NSP </a:t>
            </a:r>
            <a:r>
              <a:rPr lang="ru-RU" dirty="0"/>
              <a:t>на </a:t>
            </a:r>
            <a:r>
              <a:rPr lang="en-US" dirty="0"/>
              <a:t>SOP</a:t>
            </a:r>
            <a:endParaRPr lang="ru-RU" dirty="0"/>
          </a:p>
          <a:p>
            <a:r>
              <a:rPr lang="ru-RU" dirty="0"/>
              <a:t>Межслойное совместное использование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3418185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AD2FF-539D-2038-CDB7-E5FBD581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20D73-EA76-45ED-809F-2A01DF7C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– </a:t>
            </a:r>
            <a:r>
              <a:rPr lang="ru-RU" dirty="0"/>
              <a:t>факторизация </a:t>
            </a:r>
            <a:r>
              <a:rPr lang="ru-RU" dirty="0" err="1"/>
              <a:t>эмбеддингов</a:t>
            </a: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92F107A-A2C5-71CB-65DC-77267E8784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9239EC-046B-FC22-8D86-A8E06F56C4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93C2473-A344-7D7B-8BDE-2E4F3FB7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825625"/>
            <a:ext cx="10933255" cy="118379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Чтобы размер скрытых слоев и размерность </a:t>
            </a:r>
            <a:r>
              <a:rPr lang="ru-RU" dirty="0" err="1"/>
              <a:t>эмбеддинга</a:t>
            </a:r>
            <a:r>
              <a:rPr lang="ru-RU" dirty="0"/>
              <a:t> были разными, ALBERT деконструирует матрицу </a:t>
            </a:r>
            <a:r>
              <a:rPr lang="ru-RU" dirty="0" err="1"/>
              <a:t>эмбеддинга</a:t>
            </a:r>
            <a:r>
              <a:rPr lang="ru-RU" dirty="0"/>
              <a:t> на 2 части. Это увеличивает размер скрытого слоя, не меняя фактического размера </a:t>
            </a:r>
            <a:r>
              <a:rPr lang="ru-RU" dirty="0" err="1"/>
              <a:t>эмбеддинга</a:t>
            </a:r>
            <a:r>
              <a:rPr lang="ru-RU" dirty="0"/>
              <a:t>. 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AA85572-0759-7D07-69F5-23A53743D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7" y="3429000"/>
            <a:ext cx="4627069" cy="321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B249B80B-DD26-6AC9-2E1C-6F8826B74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276600"/>
            <a:ext cx="6074056" cy="281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32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DC95-4D05-2F83-F0E8-A9190BB3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D9DD4-E4B6-F1CF-ED8E-A8ABAD86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– Sentence Order Prediction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7CE8D15-18ED-23FA-E69C-8A556E8436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48115535-CA8D-992C-FF13-F93FEAAD2A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51BD483-0FC6-D5A5-C88F-007AFF781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825625"/>
            <a:ext cx="10933255" cy="1183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ALBERT предлагает альтернативную задачу под названием «Предсказание порядка предложений» </a:t>
            </a:r>
          </a:p>
        </p:txBody>
      </p:sp>
      <p:pic>
        <p:nvPicPr>
          <p:cNvPr id="11266" name="Picture 2" descr="Sentence Order Prediction">
            <a:extLst>
              <a:ext uri="{FF2B5EF4-FFF2-40B4-BE49-F238E27FC236}">
                <a16:creationId xmlns:a16="http://schemas.microsoft.com/office/drawing/2014/main" id="{A24158DF-9C4A-82F2-2E2B-3A32E0D7B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212" y="3650214"/>
            <a:ext cx="7431176" cy="283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500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6C2A-168D-B7A3-07E2-CE147FDD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59240-609B-A559-0DAB-9C459D6D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– </a:t>
            </a:r>
            <a:r>
              <a:rPr lang="ru-RU" dirty="0" err="1"/>
              <a:t>шэринг</a:t>
            </a:r>
            <a:r>
              <a:rPr lang="ru-RU" dirty="0"/>
              <a:t> параметров</a:t>
            </a: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1170B46-2DA4-E504-D282-FE41646186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FD988F9-1417-96A0-13BE-1528E8691A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ACD849D-2854-5ED6-D3C6-86642162A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825625"/>
            <a:ext cx="10933255" cy="8134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BERT и ALBERT имеют по 12 блоков кодирования. В ALBERT эти блоки совместно используют все параметры. Это уменьшает размер параметров в 12 раз, а также увеличивает регуляризацию модели.</a:t>
            </a:r>
          </a:p>
        </p:txBody>
      </p:sp>
      <p:pic>
        <p:nvPicPr>
          <p:cNvPr id="12290" name="Picture 2" descr="Parameter sharing in ALBERT">
            <a:extLst>
              <a:ext uri="{FF2B5EF4-FFF2-40B4-BE49-F238E27FC236}">
                <a16:creationId xmlns:a16="http://schemas.microsoft.com/office/drawing/2014/main" id="{52606158-BE30-273B-7E9F-A5DD98818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41" y="3132735"/>
            <a:ext cx="9448918" cy="296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99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</a:t>
            </a:r>
            <a:r>
              <a:rPr lang="ru-RU" dirty="0"/>
              <a:t> - </a:t>
            </a:r>
            <a:r>
              <a:rPr lang="en-US" dirty="0"/>
              <a:t>Generative Pre-trained Transformer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3793B-0596-A14A-DD7D-5E3D917E0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9998800" cy="3472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Если </a:t>
            </a:r>
            <a:r>
              <a:rPr lang="en-US" dirty="0"/>
              <a:t>BERT – Encoder, </a:t>
            </a:r>
            <a:r>
              <a:rPr lang="ru-RU" dirty="0"/>
              <a:t>то </a:t>
            </a:r>
            <a:r>
              <a:rPr lang="en-US" dirty="0"/>
              <a:t>GPT – Decoder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098" name="Picture 2" descr="Generalized Language Models | Lil'Log">
            <a:extLst>
              <a:ext uri="{FF2B5EF4-FFF2-40B4-BE49-F238E27FC236}">
                <a16:creationId xmlns:a16="http://schemas.microsoft.com/office/drawing/2014/main" id="{035D875F-1A80-7FF9-7AC7-53E7C894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167" y="2505478"/>
            <a:ext cx="5878980" cy="384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173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6F9A-6A36-3E7F-E760-40E4AEDE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2A8E5-2C5D-382D-A161-58318D18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 1 &amp; 2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DECA212-4492-901A-D825-F8252E56B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66CA7C4-39A2-C91F-65FC-36E105F9A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CEAC4DB-6B15-8D07-1DA6-406A60531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825625"/>
            <a:ext cx="10933255" cy="447100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GPT 1</a:t>
            </a:r>
            <a:r>
              <a:rPr lang="ru-RU" b="1" dirty="0"/>
              <a:t> </a:t>
            </a:r>
            <a:r>
              <a:rPr lang="ru-RU" dirty="0"/>
              <a:t>была обучена в 2018 году на 7000 книг и имела размер контекста в 512 токенов. И она сразу получилась довольно сильной: после дообучения на специализированные задачи (бенчмарки) показывала на них лучшее на то время качество.</a:t>
            </a:r>
          </a:p>
          <a:p>
            <a:r>
              <a:rPr lang="ru-RU" dirty="0"/>
              <a:t>Так, в задачах </a:t>
            </a:r>
            <a:r>
              <a:rPr lang="ru-RU" dirty="0" err="1"/>
              <a:t>CoLA</a:t>
            </a:r>
            <a:r>
              <a:rPr lang="ru-RU" dirty="0"/>
              <a:t> (классификационный бенчмарк, в нём надо определить грамматическую корректность предложения) результат вырос до 45,4 против прежнего результата в 35,0 у RNN. А в GLUE — с 72,8 до 68,9.</a:t>
            </a:r>
          </a:p>
          <a:p>
            <a:r>
              <a:rPr lang="en-US" b="1" dirty="0"/>
              <a:t>GPT </a:t>
            </a:r>
            <a:r>
              <a:rPr lang="ru-RU" b="1" dirty="0"/>
              <a:t>2 </a:t>
            </a:r>
            <a:r>
              <a:rPr lang="ru-RU" dirty="0"/>
              <a:t>была обучена в 2019 году. Она состояла из рекордных для того времени 1,5 млрд параметров (то есть была в ~10 раз больше первой), имела контекст в 1024 токена и была обучена на 40 ГБ текстовых данных. GPT-2 снова побеждала предыдущие подходы, включая GPT-1, на многих бенчмарках.</a:t>
            </a:r>
          </a:p>
          <a:p>
            <a:r>
              <a:rPr lang="ru-RU" dirty="0"/>
              <a:t>По сравнению с первой версией модели у второй произошел качественный рост: теперь она могла генерировать разумные тексты — а не только предложения. Правда, не всегда и не с первой попытки.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BF19B-7730-1399-5F8E-8871A65F959D}"/>
              </a:ext>
            </a:extLst>
          </p:cNvPr>
          <p:cNvSpPr txBox="1"/>
          <p:nvPr/>
        </p:nvSpPr>
        <p:spPr>
          <a:xfrm>
            <a:off x="838197" y="6079696"/>
            <a:ext cx="605300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Improving Language Understanding by Generative Pre-Training</a:t>
            </a:r>
            <a:br>
              <a:rPr lang="en-US" dirty="0"/>
            </a:br>
            <a:r>
              <a:rPr lang="en-US" u="sng" dirty="0">
                <a:hlinkClick r:id="rId3"/>
              </a:rPr>
              <a:t>Language Models are Unsupervised Multitask Learners</a:t>
            </a:r>
          </a:p>
          <a:p>
            <a:pPr fontAlgn="ctr"/>
            <a:br>
              <a:rPr lang="en-US" dirty="0">
                <a:hlinkClick r:id="rId3"/>
              </a:rPr>
            </a:br>
            <a:endParaRPr lang="en-US" dirty="0">
              <a:hlinkClick r:id="rId3"/>
            </a:endParaRPr>
          </a:p>
          <a:p>
            <a:br>
              <a:rPr lang="en-US" dirty="0">
                <a:hlinkClick r:id="rId3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B3DA5-DA28-98D1-2CD3-4094A572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ADEC71-389D-BE1B-FF05-1636BA68E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GPT-3 стала революцией с точки зрения качества и размеров. В 2020 году была получена модель размером в 175 млрд параметров, она обучалась на 570 ГБ текстовых данных с контекстом в 2048 токенов. Модель могла решать целый спектр задач, включая перевод, </a:t>
            </a:r>
            <a:r>
              <a:rPr lang="ru-RU" dirty="0" err="1"/>
              <a:t>суммаризацию</a:t>
            </a:r>
            <a:r>
              <a:rPr lang="ru-RU" dirty="0"/>
              <a:t> и ответы на вопросы, с качеством, близким к человеческому уровню, а также отличалась высокой способностью генерировать креативный контент.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FA1EC-F99C-EC0E-AFD7-39D90C0B419E}"/>
              </a:ext>
            </a:extLst>
          </p:cNvPr>
          <p:cNvSpPr txBox="1"/>
          <p:nvPr/>
        </p:nvSpPr>
        <p:spPr>
          <a:xfrm>
            <a:off x="838197" y="6079696"/>
            <a:ext cx="3978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hlinkClick r:id="rId2"/>
              </a:rPr>
              <a:t>Language Models are Few-Shot Learners</a:t>
            </a:r>
          </a:p>
        </p:txBody>
      </p:sp>
    </p:spTree>
    <p:extLst>
      <p:ext uri="{BB962C8B-B14F-4D97-AF65-F5344CB8AC3E}">
        <p14:creationId xmlns:p14="http://schemas.microsoft.com/office/powerpoint/2010/main" val="1642355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AC03-78D4-A06A-2CCC-8EFA726E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339E3-5D9C-9375-23EA-3E751FB3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 Few-Shot Learning</a:t>
            </a:r>
            <a:endParaRPr lang="ru-RU" dirty="0"/>
          </a:p>
        </p:txBody>
      </p:sp>
      <p:pic>
        <p:nvPicPr>
          <p:cNvPr id="10242" name="Picture 2" descr="Image for post">
            <a:extLst>
              <a:ext uri="{FF2B5EF4-FFF2-40B4-BE49-F238E27FC236}">
                <a16:creationId xmlns:a16="http://schemas.microsoft.com/office/drawing/2014/main" id="{0B8A4803-6ADB-7264-4A7A-95033665A6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088972" cy="368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 for post">
            <a:extLst>
              <a:ext uri="{FF2B5EF4-FFF2-40B4-BE49-F238E27FC236}">
                <a16:creationId xmlns:a16="http://schemas.microsoft.com/office/drawing/2014/main" id="{DE66A4E8-18BB-A24A-E84C-078E70301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961" y="1690688"/>
            <a:ext cx="4838855" cy="417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35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C483-218C-DCE4-ABE5-4BC161EF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93923-E9BF-BB4F-8B5F-3D324153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T5</a:t>
            </a:r>
            <a:r>
              <a:rPr lang="ru-RU" dirty="0"/>
              <a:t> (</a:t>
            </a:r>
            <a:r>
              <a:rPr lang="en-US" b="1" dirty="0"/>
              <a:t>T</a:t>
            </a:r>
            <a:r>
              <a:rPr lang="en-US" dirty="0"/>
              <a:t>ext-</a:t>
            </a:r>
            <a:r>
              <a:rPr lang="en-US" b="1" dirty="0"/>
              <a:t>t</a:t>
            </a:r>
            <a:r>
              <a:rPr lang="en-US" dirty="0"/>
              <a:t>o-</a:t>
            </a:r>
            <a:r>
              <a:rPr lang="en-US" b="1" dirty="0"/>
              <a:t>T</a:t>
            </a:r>
            <a:r>
              <a:rPr lang="en-US" dirty="0"/>
              <a:t>ext </a:t>
            </a:r>
            <a:r>
              <a:rPr lang="en-US" b="1" dirty="0"/>
              <a:t>T</a:t>
            </a:r>
            <a:r>
              <a:rPr lang="en-US" dirty="0"/>
              <a:t>ransfer </a:t>
            </a:r>
            <a:r>
              <a:rPr lang="en-US" b="1" dirty="0"/>
              <a:t>T</a:t>
            </a:r>
            <a:r>
              <a:rPr lang="en-US" dirty="0"/>
              <a:t>ransformer</a:t>
            </a:r>
            <a:r>
              <a:rPr lang="ru-RU" dirty="0"/>
              <a:t>)</a:t>
            </a:r>
          </a:p>
        </p:txBody>
      </p:sp>
      <p:pic>
        <p:nvPicPr>
          <p:cNvPr id="13314" name="Picture 2" descr="Трансферное обучение с Т5 / Хабр">
            <a:extLst>
              <a:ext uri="{FF2B5EF4-FFF2-40B4-BE49-F238E27FC236}">
                <a16:creationId xmlns:a16="http://schemas.microsoft.com/office/drawing/2014/main" id="{A699AD40-3168-794F-868C-CAE6812B9A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4197"/>
            <a:ext cx="10515600" cy="397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A036BD-98A6-B84C-7F29-D2DD2756593F}"/>
              </a:ext>
            </a:extLst>
          </p:cNvPr>
          <p:cNvSpPr txBox="1"/>
          <p:nvPr/>
        </p:nvSpPr>
        <p:spPr>
          <a:xfrm>
            <a:off x="838198" y="6382915"/>
            <a:ext cx="7660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Exploring the Limits of Transfer Learning with a Unified Text-to-Text Transformer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852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CF28D-19A7-97B8-D9D4-ADD675F1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трансформер победил?</a:t>
            </a:r>
          </a:p>
        </p:txBody>
      </p:sp>
      <p:pic>
        <p:nvPicPr>
          <p:cNvPr id="1030" name="Picture 6" descr="мем задумался с чашкой в ноге - создать мем онлайн | Лучший редактор мемов  2025">
            <a:extLst>
              <a:ext uri="{FF2B5EF4-FFF2-40B4-BE49-F238E27FC236}">
                <a16:creationId xmlns:a16="http://schemas.microsoft.com/office/drawing/2014/main" id="{18AEF751-5D03-6F04-87FD-09AD38EFDA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8"/>
          <a:stretch>
            <a:fillRect/>
          </a:stretch>
        </p:blipFill>
        <p:spPr bwMode="auto">
          <a:xfrm>
            <a:off x="3810000" y="1939131"/>
            <a:ext cx="4572000" cy="402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874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D091-1796-48B8-DF98-87AF35D4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C7B51-A104-E4D1-952F-F6A3052A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трансформер победил?</a:t>
            </a:r>
          </a:p>
        </p:txBody>
      </p:sp>
      <p:pic>
        <p:nvPicPr>
          <p:cNvPr id="1026" name="Picture 2" descr="machine learning - Why does the transformer do better than RNN and LSTM in  long-range context dependencies? - Artificial Intelligence Stack Exchange">
            <a:extLst>
              <a:ext uri="{FF2B5EF4-FFF2-40B4-BE49-F238E27FC236}">
                <a16:creationId xmlns:a16="http://schemas.microsoft.com/office/drawing/2014/main" id="{A9BC308C-1EE3-EFA4-B142-52980B409E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2448719"/>
            <a:ext cx="982980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6D7FDC-513F-15BA-1819-8B71DB1AF9D7}"/>
              </a:ext>
            </a:extLst>
          </p:cNvPr>
          <p:cNvSpPr txBox="1"/>
          <p:nvPr/>
        </p:nvSpPr>
        <p:spPr>
          <a:xfrm>
            <a:off x="838198" y="6382915"/>
            <a:ext cx="25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Attention Is All You Need</a:t>
            </a:r>
          </a:p>
        </p:txBody>
      </p:sp>
    </p:spTree>
    <p:extLst>
      <p:ext uri="{BB962C8B-B14F-4D97-AF65-F5344CB8AC3E}">
        <p14:creationId xmlns:p14="http://schemas.microsoft.com/office/powerpoint/2010/main" val="880491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066CB-BC4F-314D-CF86-FB5DC1DB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Позиционное кодирование – что не так?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939B343-5798-3A26-AAB0-32087CBD7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7681" y="1852258"/>
            <a:ext cx="3636638" cy="457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15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92889-E666-72E3-A5DF-BD80B13A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Обучаемые </a:t>
            </a:r>
            <a:r>
              <a:rPr lang="ru-RU" dirty="0" err="1"/>
              <a:t>эмбеддинги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9337A9-288D-6B57-D8B3-4344F87F6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1" cy="485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Схема, в которой каждая позиция получает свой обучаемый вектор (отдельная матрица </a:t>
            </a:r>
            <a:r>
              <a:rPr lang="ru-RU" sz="1800" dirty="0" err="1"/>
              <a:t>nn.Embedding</a:t>
            </a:r>
            <a:r>
              <a:rPr lang="ru-RU" sz="1800" dirty="0"/>
              <a:t>, как для </a:t>
            </a:r>
            <a:r>
              <a:rPr lang="ru-RU" sz="1800" dirty="0" err="1"/>
              <a:t>эмбеддингов</a:t>
            </a:r>
            <a:r>
              <a:rPr lang="ru-RU" sz="1800" dirty="0"/>
              <a:t> токенов)</a:t>
            </a:r>
          </a:p>
          <a:p>
            <a:r>
              <a:rPr lang="ru-RU" sz="1800" dirty="0"/>
              <a:t>Плюсы - модель сама учит полезные паттерны, хорошо работает на коротких и средних последовательностях.</a:t>
            </a:r>
          </a:p>
          <a:p>
            <a:r>
              <a:rPr lang="ru-RU" sz="1800" dirty="0"/>
              <a:t>Минусы - не обобщается на позиции вне обучающего диапазона, требует больше памяти.</a:t>
            </a:r>
          </a:p>
        </p:txBody>
      </p:sp>
      <p:pic>
        <p:nvPicPr>
          <p:cNvPr id="3081" name="Picture 9">
            <a:extLst>
              <a:ext uri="{FF2B5EF4-FFF2-40B4-BE49-F238E27FC236}">
                <a16:creationId xmlns:a16="http://schemas.microsoft.com/office/drawing/2014/main" id="{7E6142F6-B021-23D6-AD68-646AF9FD0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687" y="4095487"/>
            <a:ext cx="6750270" cy="276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829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5714-4FC7-E55C-4062-81E6BEB6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406D8-DFBE-E216-37D1-1A269354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Sinusoidal Positional Encoding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29E319-C835-E85E-955C-AAFA20B84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1" cy="485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Вектору каждого токена на входе добавляем вектор абсолютной позиции, который является какой-то функцией от позиции, например, </a:t>
            </a:r>
            <a:r>
              <a:rPr lang="ru-RU" sz="1800" dirty="0" err="1"/>
              <a:t>sin</a:t>
            </a:r>
            <a:r>
              <a:rPr lang="ru-RU" sz="1800" dirty="0"/>
              <a:t>/</a:t>
            </a:r>
            <a:r>
              <a:rPr lang="ru-RU" sz="1800" dirty="0" err="1"/>
              <a:t>cos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Плюсы:</a:t>
            </a:r>
          </a:p>
          <a:p>
            <a:r>
              <a:rPr lang="ru-RU" sz="1800" dirty="0"/>
              <a:t>можно закодировать любую позицию, в том числе превосходящую максимальную длину, на которой тренировались;</a:t>
            </a:r>
          </a:p>
          <a:p>
            <a:r>
              <a:rPr lang="ru-RU" sz="1800" dirty="0"/>
              <a:t>не требуется обучение.</a:t>
            </a:r>
          </a:p>
          <a:p>
            <a:pPr marL="0" indent="0">
              <a:buNone/>
            </a:pPr>
            <a:r>
              <a:rPr lang="ru-RU" sz="1800" dirty="0"/>
              <a:t>Минусы:</a:t>
            </a:r>
          </a:p>
          <a:p>
            <a:r>
              <a:rPr lang="ru-RU" sz="1800" dirty="0"/>
              <a:t>не очень работает на длинных последовательностях;</a:t>
            </a:r>
          </a:p>
          <a:p>
            <a:r>
              <a:rPr lang="ru-RU" sz="1800" dirty="0"/>
              <a:t>в целом тоже не очень хорошо работает.</a:t>
            </a:r>
          </a:p>
          <a:p>
            <a:pPr marL="0" indent="0">
              <a:buNone/>
            </a:pPr>
            <a:endParaRPr lang="ru-RU" sz="18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F4A8B7B-E7DF-A1A8-E011-B63B646F3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905" y="1854477"/>
            <a:ext cx="54864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2F7B2F0-3977-3337-6B96-FEC0FD797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387" y="3818508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647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3838-F52A-A949-9859-F1269AF7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9A941-785B-43DC-7755-2DD05FB2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RPE - Relative Positional Encoding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E738A2-B3ED-1070-B868-6D1FF09EF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1" cy="485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Идея - нам важны не столько абсолютные позиции слов, сколько относительные, то есть близость каждой пары токенов.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Тогда будем на стадии </a:t>
            </a:r>
            <a:r>
              <a:rPr lang="ru-RU" sz="1800" dirty="0" err="1"/>
              <a:t>attention</a:t>
            </a:r>
            <a:r>
              <a:rPr lang="ru-RU" sz="1800" dirty="0"/>
              <a:t>, когда считаем  </a:t>
            </a:r>
            <a:r>
              <a:rPr lang="ru-RU" sz="1800" dirty="0" err="1"/>
              <a:t>q_i∗k_j</a:t>
            </a:r>
            <a:r>
              <a:rPr lang="ru-RU" sz="1800" dirty="0"/>
              <a:t>  добавлять туда скор для разности  i−j.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Несмотря на эффективность, этот метод требует дополнительных вычислений и медленнее абсолютных методов.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3E8F742-15AB-E750-60ED-219C09DA8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664" y="1825625"/>
            <a:ext cx="4974406" cy="350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707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B416-3AB0-578A-1D70-72AA5FF5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A434D-D6FD-8B8A-3882-8438645D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RoPE</a:t>
            </a:r>
            <a:r>
              <a:rPr lang="en-US" dirty="0"/>
              <a:t> - Rotary Position Embedding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8B55A5-94F0-B246-0D1B-AF319378B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1" cy="485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Основная идея - на стадии </a:t>
            </a:r>
            <a:r>
              <a:rPr lang="ru-RU" sz="1600" dirty="0" err="1"/>
              <a:t>attention</a:t>
            </a:r>
            <a:r>
              <a:rPr lang="ru-RU" sz="1600" dirty="0"/>
              <a:t> будем поворачивать вектора  q  и  k  в зависимости от позиции токена.</a:t>
            </a:r>
          </a:p>
          <a:p>
            <a:pPr marL="0" indent="0">
              <a:buNone/>
            </a:pPr>
            <a:r>
              <a:rPr lang="ru-RU" sz="1600" dirty="0"/>
              <a:t>Если точнее: берём </a:t>
            </a:r>
            <a:r>
              <a:rPr lang="ru-RU" sz="1600" dirty="0" err="1"/>
              <a:t>эмбеддинги</a:t>
            </a:r>
            <a:r>
              <a:rPr lang="ru-RU" sz="1600" dirty="0"/>
              <a:t> и бьём их группами по два элемента, берём позицию и обозначаем каждой группе угол поворота θ.</a:t>
            </a:r>
          </a:p>
          <a:p>
            <a:pPr marL="0" indent="0">
              <a:buNone/>
            </a:pPr>
            <a:r>
              <a:rPr lang="ru-RU" sz="1600" dirty="0"/>
              <a:t>В отличие от RPE, </a:t>
            </a:r>
            <a:r>
              <a:rPr lang="ru-RU" sz="1600" dirty="0" err="1"/>
              <a:t>RoPE</a:t>
            </a:r>
            <a:r>
              <a:rPr lang="ru-RU" sz="1600" dirty="0"/>
              <a:t>:</a:t>
            </a:r>
          </a:p>
          <a:p>
            <a:r>
              <a:rPr lang="ru-RU" sz="1600" dirty="0"/>
              <a:t>не добавляет отдельные </a:t>
            </a:r>
            <a:r>
              <a:rPr lang="ru-RU" sz="1600" dirty="0" err="1"/>
              <a:t>эмбеддинги</a:t>
            </a:r>
            <a:r>
              <a:rPr lang="ru-RU" sz="1600" dirty="0"/>
              <a:t> позиций к векторам токенов.</a:t>
            </a:r>
          </a:p>
          <a:p>
            <a:r>
              <a:rPr lang="ru-RU" sz="1600" dirty="0"/>
              <a:t>модифицирует  q  и  k  через поворот в многомерном пространстве.</a:t>
            </a:r>
          </a:p>
          <a:p>
            <a:r>
              <a:rPr lang="ru-RU" sz="1600" dirty="0"/>
              <a:t>сохраняет относительные расстояния: </a:t>
            </a:r>
            <a:r>
              <a:rPr lang="ru-RU" sz="1600" dirty="0" err="1"/>
              <a:t>Attention</a:t>
            </a:r>
            <a:r>
              <a:rPr lang="ru-RU" sz="1600" dirty="0"/>
              <a:t> </a:t>
            </a:r>
            <a:r>
              <a:rPr lang="ru-RU" sz="1600" dirty="0" err="1"/>
              <a:t>score</a:t>
            </a:r>
            <a:r>
              <a:rPr lang="ru-RU" sz="1600" dirty="0"/>
              <a:t> между двумя токенами зависит только от разности их позиций  i−j .</a:t>
            </a:r>
          </a:p>
          <a:p>
            <a:pPr marL="0" indent="0">
              <a:buNone/>
            </a:pPr>
            <a:r>
              <a:rPr lang="ru-RU" sz="1600" dirty="0"/>
              <a:t>Плюсы:</a:t>
            </a:r>
          </a:p>
          <a:p>
            <a:r>
              <a:rPr lang="ru-RU" sz="1600" dirty="0"/>
              <a:t>сохраняет относительные расстояния при любых длинах.</a:t>
            </a:r>
          </a:p>
          <a:p>
            <a:r>
              <a:rPr lang="ru-RU" sz="1600" dirty="0"/>
              <a:t>экстраполируется на очень длинные последовательности.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9B53486D-EDC3-68B4-8700-9A588A2CA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637" y="1825625"/>
            <a:ext cx="5534423" cy="315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07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A73A0-C4B0-9417-9D0C-B0D510E1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1A841-7CFD-086A-F29D-4820AA081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Interpolation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17A584-9356-23F0-B65F-DA532B8C1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1" cy="485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/>
              <a:t>Если подать на вход модели последовательность длиннее, чем на обучении, позиционные </a:t>
            </a:r>
            <a:r>
              <a:rPr lang="ru-RU" sz="1400" dirty="0" err="1"/>
              <a:t>эмбеддинги</a:t>
            </a:r>
            <a:r>
              <a:rPr lang="ru-RU" sz="1400" dirty="0"/>
              <a:t> (PE) становятся "незнакомыми" для модели, что резко ухудшает качество.</a:t>
            </a:r>
          </a:p>
          <a:p>
            <a:pPr marL="0" indent="0">
              <a:buNone/>
            </a:pPr>
            <a:r>
              <a:rPr lang="ru-RU" sz="1400" dirty="0"/>
              <a:t>Что тогда делать, когда длина последовательности больше той, на которой учились?</a:t>
            </a:r>
          </a:p>
          <a:p>
            <a:pPr marL="0" indent="0">
              <a:buNone/>
            </a:pPr>
            <a:r>
              <a:rPr lang="ru-RU" sz="1400" dirty="0"/>
              <a:t>Просто экстраполировать не получится</a:t>
            </a:r>
            <a:r>
              <a:rPr lang="en-US" sz="1400" dirty="0"/>
              <a:t> :c</a:t>
            </a:r>
          </a:p>
          <a:p>
            <a:pPr marL="0" indent="0">
              <a:buNone/>
            </a:pPr>
            <a:r>
              <a:rPr lang="ru-RU" sz="1400" dirty="0"/>
              <a:t>Тогда интерполируем!</a:t>
            </a:r>
          </a:p>
          <a:p>
            <a:pPr marL="0" indent="0">
              <a:buNone/>
            </a:pPr>
            <a:r>
              <a:rPr lang="ru-RU" sz="1400" dirty="0"/>
              <a:t>Вместо того чтобы использовать "сырые" позиционные </a:t>
            </a:r>
            <a:r>
              <a:rPr lang="ru-RU" sz="1400" dirty="0" err="1"/>
              <a:t>эмбеддинги</a:t>
            </a:r>
            <a:r>
              <a:rPr lang="ru-RU" sz="1400" dirty="0"/>
              <a:t> для позиций &gt; </a:t>
            </a:r>
            <a:r>
              <a:rPr lang="ru-RU" sz="1400" dirty="0" err="1"/>
              <a:t>L_train</a:t>
            </a:r>
            <a:r>
              <a:rPr lang="ru-RU" sz="1400" dirty="0"/>
              <a:t>, PI линейно сжимает все позиции в диапазон [0, </a:t>
            </a:r>
            <a:r>
              <a:rPr lang="ru-RU" sz="1400" dirty="0" err="1"/>
              <a:t>L_train</a:t>
            </a:r>
            <a:r>
              <a:rPr lang="ru-RU" sz="1400" dirty="0"/>
              <a:t>], сохраняя структуру относительных расстояний.</a:t>
            </a:r>
          </a:p>
          <a:p>
            <a:pPr marL="0" indent="0">
              <a:buNone/>
            </a:pPr>
            <a:r>
              <a:rPr lang="ru-RU" sz="1400" dirty="0" err="1"/>
              <a:t>position</a:t>
            </a:r>
            <a:r>
              <a:rPr lang="ru-RU" sz="1400" dirty="0"/>
              <a:t> = </a:t>
            </a:r>
            <a:r>
              <a:rPr lang="ru-RU" sz="1400" dirty="0" err="1"/>
              <a:t>position</a:t>
            </a:r>
            <a:r>
              <a:rPr lang="ru-RU" sz="1400" dirty="0"/>
              <a:t> * (</a:t>
            </a:r>
            <a:r>
              <a:rPr lang="ru-RU" sz="1400" dirty="0" err="1"/>
              <a:t>L_train</a:t>
            </a:r>
            <a:r>
              <a:rPr lang="ru-RU" sz="1400" dirty="0"/>
              <a:t> / </a:t>
            </a:r>
            <a:r>
              <a:rPr lang="ru-RU" sz="1400" dirty="0" err="1"/>
              <a:t>L_new</a:t>
            </a:r>
            <a:r>
              <a:rPr lang="ru-RU" sz="1400" dirty="0"/>
              <a:t>)</a:t>
            </a:r>
            <a:endParaRPr lang="en-US" sz="1400" dirty="0"/>
          </a:p>
          <a:p>
            <a:pPr marL="0" indent="0">
              <a:buNone/>
            </a:pPr>
            <a:r>
              <a:rPr lang="ru-RU" sz="1400" dirty="0"/>
              <a:t>Итого имеем:</a:t>
            </a:r>
          </a:p>
          <a:p>
            <a:r>
              <a:rPr lang="ru-RU" sz="1400" dirty="0"/>
              <a:t>сохранение относительных расстояний: Разница между позициями  i  и  j  уменьшается пропорционально  ((i−j)/</a:t>
            </a:r>
            <a:r>
              <a:rPr lang="ru-RU" sz="1400" dirty="0" err="1"/>
              <a:t>scale</a:t>
            </a:r>
            <a:r>
              <a:rPr lang="ru-RU" sz="1400" dirty="0"/>
              <a:t>) </a:t>
            </a:r>
          </a:p>
          <a:p>
            <a:r>
              <a:rPr lang="ru-RU" sz="1400" dirty="0"/>
              <a:t>плавность: интерполяция избегает резких скачков в </a:t>
            </a:r>
            <a:r>
              <a:rPr lang="ru-RU" sz="1400" dirty="0" err="1"/>
              <a:t>эмбеддингах</a:t>
            </a:r>
            <a:r>
              <a:rPr lang="ru-RU" sz="1400" dirty="0"/>
              <a:t> для позиций чуть выше  </a:t>
            </a:r>
            <a:r>
              <a:rPr lang="ru-RU" sz="1400" dirty="0" err="1"/>
              <a:t>L_train</a:t>
            </a:r>
            <a:r>
              <a:rPr lang="ru-RU" sz="1400" dirty="0"/>
              <a:t> </a:t>
            </a:r>
          </a:p>
          <a:p>
            <a:r>
              <a:rPr lang="ru-RU" sz="1400" dirty="0"/>
              <a:t>совместимость с </a:t>
            </a:r>
            <a:r>
              <a:rPr lang="ru-RU" sz="1400" dirty="0" err="1"/>
              <a:t>RoPE</a:t>
            </a:r>
            <a:r>
              <a:rPr lang="ru-RU" sz="1400" dirty="0"/>
              <a:t>: </a:t>
            </a:r>
            <a:r>
              <a:rPr lang="ru-RU" sz="1400" dirty="0" err="1"/>
              <a:t>RoPE</a:t>
            </a:r>
            <a:r>
              <a:rPr lang="ru-RU" sz="1400" dirty="0"/>
              <a:t> кодирует позиции через вращения, и интерполяция просто "замедляет" угол поворота</a:t>
            </a:r>
            <a:endParaRPr lang="en-US" sz="1400" dirty="0"/>
          </a:p>
          <a:p>
            <a:pPr marL="0" indent="0">
              <a:buNone/>
            </a:pPr>
            <a:r>
              <a:rPr lang="ru-RU" sz="1400" dirty="0"/>
              <a:t>Однако, есть и другие способы…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BE24B022-0E2A-2BDE-D59B-4DC5E5C69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460" y="4177931"/>
            <a:ext cx="4950513" cy="263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ow LLMs Scaled from 512 to 2M Context: A Technical Deep Dive">
            <a:extLst>
              <a:ext uri="{FF2B5EF4-FFF2-40B4-BE49-F238E27FC236}">
                <a16:creationId xmlns:a16="http://schemas.microsoft.com/office/drawing/2014/main" id="{CCC7B10E-6334-7BFA-C2B5-6A9ED16C8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188" y="1612785"/>
            <a:ext cx="5746812" cy="217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989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7AA63-2C0C-79D5-80C5-1219F42D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Оригинальный </a:t>
            </a:r>
            <a:r>
              <a:rPr lang="en-US" dirty="0"/>
              <a:t>attention</a:t>
            </a:r>
            <a:endParaRPr lang="ru-RU" dirty="0"/>
          </a:p>
        </p:txBody>
      </p:sp>
      <p:pic>
        <p:nvPicPr>
          <p:cNvPr id="1026" name="Picture 2" descr="Scaled Dot-Product Attention Explained! - by Nikita Prasad">
            <a:extLst>
              <a:ext uri="{FF2B5EF4-FFF2-40B4-BE49-F238E27FC236}">
                <a16:creationId xmlns:a16="http://schemas.microsoft.com/office/drawing/2014/main" id="{6B953A02-573B-6EA2-AC5E-2D3158D6CD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93452" cy="325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B8E88F-338A-B6D1-9761-27961D17A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259" y="1486797"/>
            <a:ext cx="5292561" cy="51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41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6F2E-3CB2-F5C5-27BD-165FB595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F5F74-623A-F5AC-ACA8-07AED289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Attention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AEE30C-B6A0-6730-CB1C-BCD04E9DC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924713" cy="27286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Идея - ограничить область внимания, чтобы уменьшить сложность.</a:t>
            </a:r>
          </a:p>
          <a:p>
            <a:pPr marL="0" indent="0">
              <a:buNone/>
            </a:pPr>
            <a:r>
              <a:rPr lang="ru-RU" sz="1600" dirty="0"/>
              <a:t>Наиболее показательна в этом отношении модель </a:t>
            </a:r>
            <a:r>
              <a:rPr lang="ru-RU" sz="1600" dirty="0" err="1"/>
              <a:t>BigBird</a:t>
            </a:r>
            <a:r>
              <a:rPr lang="ru-RU" sz="1600" dirty="0"/>
              <a:t>, которая использует три типа внимания</a:t>
            </a:r>
            <a:r>
              <a:rPr lang="en-US" sz="1600" dirty="0"/>
              <a:t>. </a:t>
            </a:r>
          </a:p>
          <a:p>
            <a:pPr marL="0" indent="0">
              <a:buNone/>
            </a:pPr>
            <a:r>
              <a:rPr lang="ru-RU" sz="1600" dirty="0"/>
              <a:t>Локальное внимание — гарантирует учёт ближайшего контекста.</a:t>
            </a:r>
            <a:r>
              <a:rPr lang="en-US" sz="1600" dirty="0"/>
              <a:t> </a:t>
            </a:r>
            <a:r>
              <a:rPr lang="ru-RU" sz="1600" dirty="0"/>
              <a:t>Случайное внимание — обеспечивает связь между далёкими токенами.</a:t>
            </a:r>
            <a:r>
              <a:rPr lang="en-US" sz="1600" dirty="0"/>
              <a:t> </a:t>
            </a:r>
            <a:r>
              <a:rPr lang="ru-RU" sz="1600" dirty="0"/>
              <a:t>Глобальные токены — играют роль хабов, собирающих информацию.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78122FF-E77C-8FC0-1ACD-1FE1148A2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973" y="3429000"/>
            <a:ext cx="7753165" cy="290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D8700A-02B8-DCC6-AFB3-37B02AC28B07}"/>
              </a:ext>
            </a:extLst>
          </p:cNvPr>
          <p:cNvSpPr txBox="1"/>
          <p:nvPr/>
        </p:nvSpPr>
        <p:spPr>
          <a:xfrm>
            <a:off x="838198" y="6382915"/>
            <a:ext cx="4387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Big Bird: Transformers for Longer Sequences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109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153B9-488C-461C-3B02-DF65CCC1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Reformer</a:t>
            </a:r>
            <a:endParaRPr lang="ru-RU" dirty="0"/>
          </a:p>
        </p:txBody>
      </p:sp>
      <p:pic>
        <p:nvPicPr>
          <p:cNvPr id="2050" name="Picture 2" descr="Reformer: Transformers, Longer Sequences, and More Efficiency | by  Dong-Keon Kim | Medium">
            <a:extLst>
              <a:ext uri="{FF2B5EF4-FFF2-40B4-BE49-F238E27FC236}">
                <a16:creationId xmlns:a16="http://schemas.microsoft.com/office/drawing/2014/main" id="{D5A322FF-67B7-5AF6-BE2D-9D0D2859FF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033" y="2726339"/>
            <a:ext cx="8423934" cy="3521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160CC222-8983-2B25-A484-638F6EE8945B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924713" cy="2728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dirty="0"/>
              <a:t>Каждый вектор запроса и ключа </a:t>
            </a:r>
            <a:r>
              <a:rPr lang="ru-RU" sz="1600" dirty="0" err="1"/>
              <a:t>хешируется</a:t>
            </a:r>
            <a:r>
              <a:rPr lang="ru-RU" sz="1600" dirty="0"/>
              <a:t> в одну из b корзин. Похожие векторы с высокой вероятностью попадают в одну корзину.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dirty="0"/>
              <a:t>Вместо вычисления внимания между всеми парами токенов, </a:t>
            </a:r>
            <a:r>
              <a:rPr lang="ru-RU" sz="1600" dirty="0" err="1"/>
              <a:t>attention</a:t>
            </a:r>
            <a:r>
              <a:rPr lang="ru-RU" sz="1600" dirty="0"/>
              <a:t> применяется только внутри каждой корзины и с соседними корзинами.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5C6F3-D1A1-135C-9BD3-04884AE5D85B}"/>
              </a:ext>
            </a:extLst>
          </p:cNvPr>
          <p:cNvSpPr txBox="1"/>
          <p:nvPr/>
        </p:nvSpPr>
        <p:spPr>
          <a:xfrm>
            <a:off x="838198" y="6382915"/>
            <a:ext cx="3537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Reformer: The Efficient Transformer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962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1B7ED-81C3-ABDF-39FE-654D60DB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Attention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8932D0-7EE6-557D-40A7-4A9834C99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Вспомним неповторимый оригинал: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dirty="0"/>
              <a:t>Размерности матриц  Q, K, V  -  </a:t>
            </a:r>
            <a:r>
              <a:rPr lang="ru-RU" sz="1800" dirty="0" err="1"/>
              <a:t>N∗d</a:t>
            </a:r>
            <a:r>
              <a:rPr lang="ru-RU" sz="1800" dirty="0"/>
              <a:t> , поэтому произведение в скобочках делать тяжело.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53DA2E5A-73CB-1CFC-A94E-2F17A86EF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485" y="1690688"/>
            <a:ext cx="353377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>
            <a:extLst>
              <a:ext uri="{FF2B5EF4-FFF2-40B4-BE49-F238E27FC236}">
                <a16:creationId xmlns:a16="http://schemas.microsoft.com/office/drawing/2014/main" id="{FB6ECBA7-3B45-F2CC-CCDF-8E9262F7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783" y="3296146"/>
            <a:ext cx="3634433" cy="2804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44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9B20-3029-5A72-7354-3B6BE8291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B5E43-A226-1C18-5A73-10E09059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Attention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17B219-4326-08B7-5188-31F29D49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Давайте тогда применим </a:t>
            </a:r>
            <a:r>
              <a:rPr lang="ru-RU" sz="1800" dirty="0" err="1"/>
              <a:t>kernel-trick</a:t>
            </a:r>
            <a:r>
              <a:rPr lang="ru-RU" sz="1800" dirty="0"/>
              <a:t>, и введем какую-то функцию  ϕ  для линеаризации и ассоциативности: </a:t>
            </a:r>
            <a:endParaRPr lang="en-US" sz="1800" dirty="0"/>
          </a:p>
        </p:txBody>
      </p:sp>
      <p:pic>
        <p:nvPicPr>
          <p:cNvPr id="9221" name="Picture 5">
            <a:extLst>
              <a:ext uri="{FF2B5EF4-FFF2-40B4-BE49-F238E27FC236}">
                <a16:creationId xmlns:a16="http://schemas.microsoft.com/office/drawing/2014/main" id="{8C7BBF23-D42D-3AD6-F20B-0710EF775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37" y="2389527"/>
            <a:ext cx="381952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Picture 7">
            <a:extLst>
              <a:ext uri="{FF2B5EF4-FFF2-40B4-BE49-F238E27FC236}">
                <a16:creationId xmlns:a16="http://schemas.microsoft.com/office/drawing/2014/main" id="{5AC7CEE8-E84A-D05F-48EE-C1ED38D55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1" y="3425995"/>
            <a:ext cx="761047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330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8D4F-BE80-EAF5-C243-34AD27DF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>
            <a:extLst>
              <a:ext uri="{FF2B5EF4-FFF2-40B4-BE49-F238E27FC236}">
                <a16:creationId xmlns:a16="http://schemas.microsoft.com/office/drawing/2014/main" id="{5F671047-DF77-80DA-6562-5E035418E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513" y="2333738"/>
            <a:ext cx="5091759" cy="102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C14AA-62E2-4420-A7E8-CC32AD70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Attention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289F8A-3B67-6D99-2025-A96F6A6B0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92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Остается вопрос: какую функцию взять?</a:t>
            </a:r>
          </a:p>
          <a:p>
            <a:pPr marL="0" indent="0">
              <a:buNone/>
            </a:pPr>
            <a:r>
              <a:rPr lang="en-US" sz="1600" dirty="0">
                <a:hlinkClick r:id="rId3"/>
              </a:rPr>
              <a:t>Rethinking Attention with Performers</a:t>
            </a:r>
            <a:endParaRPr lang="en-US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hlinkClick r:id="rId4"/>
              </a:rPr>
              <a:t>Linformer: Self-Attention with Linear Complexity</a:t>
            </a:r>
            <a:endParaRPr lang="en-US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hlinkClick r:id="rId5"/>
              </a:rPr>
              <a:t>cosFormer: Rethinking </a:t>
            </a:r>
            <a:r>
              <a:rPr lang="en-US" sz="1600" dirty="0" err="1">
                <a:hlinkClick r:id="rId5"/>
              </a:rPr>
              <a:t>Softmax</a:t>
            </a:r>
            <a:r>
              <a:rPr lang="en-US" sz="1600" dirty="0">
                <a:hlinkClick r:id="rId5"/>
              </a:rPr>
              <a:t> in Attention</a:t>
            </a:r>
            <a:endParaRPr lang="en-US" sz="1600" dirty="0"/>
          </a:p>
        </p:txBody>
      </p:sp>
      <p:pic>
        <p:nvPicPr>
          <p:cNvPr id="10254" name="Picture 14">
            <a:extLst>
              <a:ext uri="{FF2B5EF4-FFF2-40B4-BE49-F238E27FC236}">
                <a16:creationId xmlns:a16="http://schemas.microsoft.com/office/drawing/2014/main" id="{FAF14D36-23B3-DE5A-8266-552A9D06D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513" y="3880143"/>
            <a:ext cx="561022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8" name="Picture 18">
            <a:extLst>
              <a:ext uri="{FF2B5EF4-FFF2-40B4-BE49-F238E27FC236}">
                <a16:creationId xmlns:a16="http://schemas.microsoft.com/office/drawing/2014/main" id="{BFA7B811-6999-1D7F-C422-763940679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506" y="5730767"/>
            <a:ext cx="2009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514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6ECEF-9649-67A8-F527-121588A0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MHA </a:t>
            </a:r>
            <a:r>
              <a:rPr lang="en-US" b="1" dirty="0"/>
              <a:t>VS</a:t>
            </a:r>
            <a:r>
              <a:rPr lang="en-US" dirty="0"/>
              <a:t> GQA </a:t>
            </a:r>
            <a:r>
              <a:rPr lang="en-US" b="1" dirty="0"/>
              <a:t>VS</a:t>
            </a:r>
            <a:r>
              <a:rPr lang="en-US" dirty="0"/>
              <a:t> MQA </a:t>
            </a:r>
            <a:r>
              <a:rPr lang="en-US" b="1" dirty="0"/>
              <a:t>VS</a:t>
            </a:r>
            <a:r>
              <a:rPr lang="en-US" dirty="0"/>
              <a:t> MLA</a:t>
            </a:r>
            <a:endParaRPr lang="ru-RU" dirty="0"/>
          </a:p>
        </p:txBody>
      </p:sp>
      <p:pic>
        <p:nvPicPr>
          <p:cNvPr id="1026" name="Picture 2" descr="DeepSeek Technical Analysis — (2)Multi-Head Latent Attention | by Jinpeng  Zhang | Medium">
            <a:extLst>
              <a:ext uri="{FF2B5EF4-FFF2-40B4-BE49-F238E27FC236}">
                <a16:creationId xmlns:a16="http://schemas.microsoft.com/office/drawing/2014/main" id="{6A3593D5-7298-640C-9A32-33E89F19CE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527" y="3747552"/>
            <a:ext cx="7522945" cy="311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08BDF504-F31B-A532-738C-26A4482FBF5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Multi Query Attention </a:t>
            </a:r>
            <a:r>
              <a:rPr lang="en-US" sz="1800" dirty="0"/>
              <a:t>- </a:t>
            </a:r>
            <a:r>
              <a:rPr lang="ru-RU" sz="1800" dirty="0"/>
              <a:t>вариант механизма внимания, в котором  </a:t>
            </a:r>
            <a:r>
              <a:rPr lang="en-US" sz="1800" dirty="0"/>
              <a:t>Q  </a:t>
            </a:r>
            <a:r>
              <a:rPr lang="ru-RU" sz="1800" dirty="0"/>
              <a:t>остаются уникальными для каждой головы, а  </a:t>
            </a:r>
            <a:r>
              <a:rPr lang="en-US" sz="1800" dirty="0"/>
              <a:t>K  </a:t>
            </a:r>
            <a:r>
              <a:rPr lang="ru-RU" sz="1800" dirty="0"/>
              <a:t>и  </a:t>
            </a:r>
            <a:r>
              <a:rPr lang="en-US" sz="1800" dirty="0"/>
              <a:t>V  </a:t>
            </a:r>
            <a:r>
              <a:rPr lang="ru-RU" sz="1800" dirty="0"/>
              <a:t>становятся общими для всех голов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Grouped Query Attention </a:t>
            </a:r>
            <a:r>
              <a:rPr lang="en-US" sz="1800" dirty="0"/>
              <a:t>— </a:t>
            </a:r>
            <a:r>
              <a:rPr lang="ru-RU" sz="1800" dirty="0"/>
              <a:t>гибридный механизм внимания, сочетающий преимущества </a:t>
            </a:r>
            <a:r>
              <a:rPr lang="en-US" sz="1800" dirty="0"/>
              <a:t>Multi-Head Attention </a:t>
            </a:r>
            <a:r>
              <a:rPr lang="ru-RU" sz="1800" dirty="0"/>
              <a:t>и </a:t>
            </a:r>
            <a:r>
              <a:rPr lang="en-US" sz="1800" dirty="0"/>
              <a:t>Multi-Query Attention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Multi Latent Attention </a:t>
            </a:r>
            <a:r>
              <a:rPr lang="en-US" sz="1800" dirty="0"/>
              <a:t>-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357299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B831-F4AA-2347-F976-DE315708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Picture 6">
            <a:extLst>
              <a:ext uri="{FF2B5EF4-FFF2-40B4-BE49-F238E27FC236}">
                <a16:creationId xmlns:a16="http://schemas.microsoft.com/office/drawing/2014/main" id="{2012C797-AEA1-7989-2FAF-ECD208AC8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0" y="3838035"/>
            <a:ext cx="7379360" cy="301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5B879-1EC3-5FD0-1A5B-E8E3F9D7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FlashAttention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9986A8-6D29-99F2-F02D-2912529B1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236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Идея - оптимизация GPU-памяти и перерасчет.</a:t>
            </a:r>
          </a:p>
          <a:p>
            <a:pPr marL="0" indent="0">
              <a:buNone/>
            </a:pPr>
            <a:r>
              <a:rPr lang="ru-RU" sz="1600" dirty="0"/>
              <a:t>Ключевым ингредиентом успеха Flash </a:t>
            </a:r>
            <a:r>
              <a:rPr lang="ru-RU" sz="1600" dirty="0" err="1"/>
              <a:t>Attention</a:t>
            </a:r>
            <a:r>
              <a:rPr lang="ru-RU" sz="1600" dirty="0"/>
              <a:t> является наблюдение того, что основное время уходит не сколько на сами вычисления, а на обращения к памяти, подгрузку матриц и тензоров.</a:t>
            </a:r>
            <a:endParaRPr lang="en-US" sz="1600" dirty="0"/>
          </a:p>
          <a:p>
            <a:pPr marL="0" indent="0">
              <a:buNone/>
            </a:pPr>
            <a:r>
              <a:rPr lang="ru-RU" sz="1600" dirty="0"/>
              <a:t>Память видеокарты имеет следующую иерархию: есть быстрая кэш память, которой немного, всего пара десятков мегабайт (</a:t>
            </a:r>
            <a:r>
              <a:rPr lang="ru-RU" sz="1600" dirty="0" err="1"/>
              <a:t>Static</a:t>
            </a:r>
            <a:r>
              <a:rPr lang="ru-RU" sz="1600" dirty="0"/>
              <a:t> </a:t>
            </a:r>
            <a:r>
              <a:rPr lang="ru-RU" sz="1600" dirty="0" err="1"/>
              <a:t>Random</a:t>
            </a:r>
            <a:r>
              <a:rPr lang="ru-RU" sz="1600" dirty="0"/>
              <a:t> Access Memory), и относительно медленная, но которой может быть много HBM (High </a:t>
            </a:r>
            <a:r>
              <a:rPr lang="ru-RU" sz="1600" dirty="0" err="1"/>
              <a:t>Bandwidth</a:t>
            </a:r>
            <a:r>
              <a:rPr lang="ru-RU" sz="1600" dirty="0"/>
              <a:t> Memory).</a:t>
            </a:r>
          </a:p>
          <a:p>
            <a:pPr marL="0" indent="0">
              <a:buNone/>
            </a:pPr>
            <a:r>
              <a:rPr lang="ru-RU" sz="1600" dirty="0"/>
              <a:t>Казалось бы, что величина пропускной способности порядка 1 Тб/с это довольно много, но в случае обучения или </a:t>
            </a:r>
            <a:r>
              <a:rPr lang="ru-RU" sz="1600" dirty="0" err="1"/>
              <a:t>инференса</a:t>
            </a:r>
            <a:r>
              <a:rPr lang="ru-RU" sz="1600" dirty="0"/>
              <a:t> модели трансформера, HBM память не поспевает за вычислениями.</a:t>
            </a:r>
          </a:p>
        </p:txBody>
      </p:sp>
    </p:spTree>
    <p:extLst>
      <p:ext uri="{BB962C8B-B14F-4D97-AF65-F5344CB8AC3E}">
        <p14:creationId xmlns:p14="http://schemas.microsoft.com/office/powerpoint/2010/main" val="4105783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FCCB1-7CB2-984C-C68B-6A1109D7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16C88-A31B-80E2-52FF-0AAF6867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FlashAttention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BA7CAA-D372-45C8-8B2A-771E1159E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dirty="0"/>
              <a:t>Стандартная реализация </a:t>
            </a:r>
            <a:r>
              <a:rPr lang="en-US" sz="1800" dirty="0"/>
              <a:t>Attention: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dirty="0"/>
              <a:t>Что делает </a:t>
            </a:r>
            <a:r>
              <a:rPr lang="ru-RU" sz="1800" dirty="0" err="1"/>
              <a:t>FlashAttention</a:t>
            </a:r>
            <a:r>
              <a:rPr lang="ru-RU" sz="1800" dirty="0"/>
              <a:t>?</a:t>
            </a:r>
          </a:p>
          <a:p>
            <a:r>
              <a:rPr lang="ru-RU" sz="1800" dirty="0"/>
              <a:t>Оптимизация доступа к памяти - Матрицы Q, K, V разбиваются на небольшие блоки, которые помещаются в быструю SRAM (регистры GPU). Вычисления происходят внутри блоков без постоянного обращения к HBM</a:t>
            </a:r>
          </a:p>
          <a:p>
            <a:r>
              <a:rPr lang="ru-RU" sz="1800" dirty="0"/>
              <a:t>Перерасчет (</a:t>
            </a:r>
            <a:r>
              <a:rPr lang="ru-RU" sz="1800" dirty="0" err="1"/>
              <a:t>Recomputation</a:t>
            </a:r>
            <a:r>
              <a:rPr lang="ru-RU" sz="1800" dirty="0"/>
              <a:t>) вместо хранения - вместо хранения матриц QKᵀ и </a:t>
            </a:r>
            <a:r>
              <a:rPr lang="ru-RU" sz="1800" dirty="0" err="1"/>
              <a:t>softmax</a:t>
            </a:r>
            <a:r>
              <a:rPr lang="ru-RU" sz="1800" dirty="0"/>
              <a:t>, они пересчитываются на лету во время </a:t>
            </a:r>
            <a:r>
              <a:rPr lang="ru-RU" sz="1800" dirty="0" err="1"/>
              <a:t>backward</a:t>
            </a:r>
            <a:r>
              <a:rPr lang="ru-RU" sz="1800" dirty="0"/>
              <a:t> </a:t>
            </a:r>
            <a:r>
              <a:rPr lang="ru-RU" sz="1800" dirty="0" err="1"/>
              <a:t>pass</a:t>
            </a:r>
            <a:endParaRPr lang="ru-RU" sz="1800" dirty="0"/>
          </a:p>
          <a:p>
            <a:r>
              <a:rPr lang="ru-RU" sz="1800" dirty="0"/>
              <a:t>Объединение операций в одно GPU-ядро: </a:t>
            </a:r>
            <a:r>
              <a:rPr lang="ru-RU" sz="1800" dirty="0" err="1"/>
              <a:t>Softmax</a:t>
            </a:r>
            <a:r>
              <a:rPr lang="ru-RU" sz="1800" dirty="0"/>
              <a:t> + масштабирование + </a:t>
            </a:r>
            <a:r>
              <a:rPr lang="ru-RU" sz="1800" dirty="0" err="1"/>
              <a:t>dropout</a:t>
            </a:r>
            <a:r>
              <a:rPr lang="ru-RU" sz="1800" dirty="0"/>
              <a:t> выполняются за один проход, нет промежуточных записей в память</a:t>
            </a:r>
          </a:p>
        </p:txBody>
      </p:sp>
      <p:pic>
        <p:nvPicPr>
          <p:cNvPr id="12296" name="Picture 8">
            <a:extLst>
              <a:ext uri="{FF2B5EF4-FFF2-40B4-BE49-F238E27FC236}">
                <a16:creationId xmlns:a16="http://schemas.microsoft.com/office/drawing/2014/main" id="{11501F22-D95A-3FA4-B011-3CD8F1E48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159" y="2211099"/>
            <a:ext cx="8223682" cy="144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911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D162-17E2-F5C1-3CDC-114A21F3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0CDD9-0A07-A61B-5FE1-1E4495E0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FlashAttention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531400-530C-E594-6519-B4343FFEB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1849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Поблочная процедура вычисления позволяет выполнять все операции (перемножения матриц, </a:t>
            </a:r>
            <a:r>
              <a:rPr lang="ru-RU" sz="1800" dirty="0" err="1"/>
              <a:t>softmax</a:t>
            </a:r>
            <a:r>
              <a:rPr lang="ru-RU" sz="1800" dirty="0"/>
              <a:t>, </a:t>
            </a:r>
            <a:r>
              <a:rPr lang="ru-RU" sz="1800" dirty="0" err="1"/>
              <a:t>dropout</a:t>
            </a:r>
            <a:r>
              <a:rPr lang="ru-RU" sz="1800" dirty="0"/>
              <a:t>) разом в одном СUDA </a:t>
            </a:r>
            <a:r>
              <a:rPr lang="ru-RU" sz="1800" dirty="0" err="1"/>
              <a:t>kernel</a:t>
            </a:r>
            <a:r>
              <a:rPr lang="ru-RU" sz="1800" dirty="0"/>
              <a:t>, в отличие от стандартной имплементации, где приходилось бы на каждую из операций вызывать отдельное ядро, что приводило к дополнительным накладным расходам.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95C23233-F6E2-9F88-C7DC-79FDB52A3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029" y="3429000"/>
            <a:ext cx="2597939" cy="277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117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DCDA6-EBB4-ED37-E17E-09DD9618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EC3D9-1A3C-961A-92DE-472636B5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FlashAttention 1/2/3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DFECB9-FE79-DD72-7FA3-655DD8127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3927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err="1"/>
              <a:t>FlashAttention</a:t>
            </a:r>
            <a:r>
              <a:rPr lang="ru-RU" sz="1800" b="1" dirty="0"/>
              <a:t> 2</a:t>
            </a:r>
            <a:r>
              <a:rPr lang="ru-RU" sz="1800" dirty="0"/>
              <a:t>: дополнительно использует смешанные вычисления (</a:t>
            </a:r>
            <a:r>
              <a:rPr lang="ru-RU" sz="1800" dirty="0" err="1"/>
              <a:t>mixed</a:t>
            </a:r>
            <a:r>
              <a:rPr lang="ru-RU" sz="1800" dirty="0"/>
              <a:t> </a:t>
            </a:r>
            <a:r>
              <a:rPr lang="ru-RU" sz="1800" dirty="0" err="1"/>
              <a:t>precision</a:t>
            </a:r>
            <a:r>
              <a:rPr lang="ru-RU" sz="1800" dirty="0"/>
              <a:t>), динамическое планирование работы GPU</a:t>
            </a:r>
            <a:r>
              <a:rPr lang="en-US" sz="1800" dirty="0"/>
              <a:t>-</a:t>
            </a:r>
            <a:r>
              <a:rPr lang="ru-RU" sz="1800" dirty="0"/>
              <a:t>потоков и буферизацию по потокам, чтобы ещё сильнее повысить пропускную способность и снизить потребление памяти.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 err="1"/>
              <a:t>FlashAttention</a:t>
            </a:r>
            <a:r>
              <a:rPr lang="ru-RU" sz="1800" b="1" dirty="0"/>
              <a:t> 3</a:t>
            </a:r>
            <a:r>
              <a:rPr lang="ru-RU" sz="1800" dirty="0"/>
              <a:t>: интегрирует алгоритмы сжатия градиентов и адаптивный план вычислений в зависимости от формы </a:t>
            </a:r>
            <a:r>
              <a:rPr lang="ru-RU" sz="1800" dirty="0" err="1"/>
              <a:t>батча</a:t>
            </a:r>
            <a:r>
              <a:rPr lang="ru-RU" sz="1800" dirty="0"/>
              <a:t> и длины, добиваясь оптимального баланса между скоростью и памятью на различных аппаратных конфигурациях.</a:t>
            </a:r>
          </a:p>
        </p:txBody>
      </p:sp>
    </p:spTree>
    <p:extLst>
      <p:ext uri="{BB962C8B-B14F-4D97-AF65-F5344CB8AC3E}">
        <p14:creationId xmlns:p14="http://schemas.microsoft.com/office/powerpoint/2010/main" val="320250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00CCC-F147-8E98-A92D-279382B7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7962E-76C5-E5ED-50CB-CDC241BC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Функции активации</a:t>
            </a:r>
            <a:endParaRPr lang="en-US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312B4F-4880-634D-F71F-963074680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0226"/>
            <a:ext cx="5997607" cy="50425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err="1"/>
              <a:t>ReLU</a:t>
            </a:r>
            <a:r>
              <a:rPr lang="ru-RU" sz="1400" dirty="0"/>
              <a:t> - Формула: </a:t>
            </a:r>
            <a:r>
              <a:rPr lang="en-US" sz="1400" dirty="0"/>
              <a:t> max(0, </a:t>
            </a:r>
            <a:r>
              <a:rPr lang="en-US" sz="1400" i="1" dirty="0"/>
              <a:t>x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dirty="0"/>
              <a:t>Простота и вычислительная эффективность</a:t>
            </a:r>
          </a:p>
          <a:p>
            <a:r>
              <a:rPr lang="ru-RU" sz="1400" dirty="0"/>
              <a:t>Риск «мертвых» нейронов при долгих отрицательных входах</a:t>
            </a:r>
          </a:p>
          <a:p>
            <a:pPr marL="0" indent="0">
              <a:buNone/>
            </a:pPr>
            <a:r>
              <a:rPr lang="ru-RU" sz="1400" dirty="0"/>
              <a:t>GELU - Формула:</a:t>
            </a:r>
            <a:r>
              <a:rPr lang="en-US" sz="1400" dirty="0"/>
              <a:t> </a:t>
            </a:r>
            <a:r>
              <a:rPr lang="en-US" sz="1400" i="1" dirty="0"/>
              <a:t>x</a:t>
            </a:r>
            <a:r>
              <a:rPr lang="en-US" sz="1400" dirty="0"/>
              <a:t>⋅</a:t>
            </a:r>
            <a:r>
              <a:rPr lang="el-GR" sz="1400" dirty="0"/>
              <a:t>Φ(</a:t>
            </a:r>
            <a:r>
              <a:rPr lang="en-US" sz="1400" i="1" dirty="0"/>
              <a:t>x</a:t>
            </a:r>
            <a:r>
              <a:rPr lang="en-US" sz="1400" dirty="0"/>
              <a:t>), </a:t>
            </a:r>
            <a:r>
              <a:rPr lang="ru-RU" sz="1400" dirty="0"/>
              <a:t>где </a:t>
            </a:r>
            <a:r>
              <a:rPr lang="el-GR" sz="1400" dirty="0"/>
              <a:t> Φ</a:t>
            </a:r>
            <a:r>
              <a:rPr lang="en-US" sz="1400" dirty="0"/>
              <a:t> - CDF </a:t>
            </a:r>
            <a:r>
              <a:rPr lang="ru-RU" sz="1400" dirty="0"/>
              <a:t>нормального распределения</a:t>
            </a:r>
          </a:p>
          <a:p>
            <a:r>
              <a:rPr lang="ru-RU" sz="1400" dirty="0"/>
              <a:t>Плавное обнуление отрицательных значений</a:t>
            </a:r>
          </a:p>
          <a:p>
            <a:r>
              <a:rPr lang="ru-RU" sz="1400" dirty="0"/>
              <a:t>Лучшее моделирование стохастических эффектов</a:t>
            </a:r>
          </a:p>
          <a:p>
            <a:r>
              <a:rPr lang="ru-RU" sz="1400" dirty="0"/>
              <a:t>Часто используется в трансформерах (например, BERT)</a:t>
            </a:r>
          </a:p>
          <a:p>
            <a:pPr marL="0" indent="0">
              <a:buNone/>
            </a:pPr>
            <a:r>
              <a:rPr lang="ru-RU" sz="1400" dirty="0" err="1"/>
              <a:t>SiLU</a:t>
            </a:r>
            <a:r>
              <a:rPr lang="ru-RU" sz="1400" dirty="0"/>
              <a:t> - Формула: </a:t>
            </a:r>
            <a:r>
              <a:rPr lang="en-US" sz="1400" i="1" dirty="0"/>
              <a:t> x</a:t>
            </a:r>
            <a:r>
              <a:rPr lang="en-US" sz="1400" dirty="0"/>
              <a:t>⋅</a:t>
            </a:r>
            <a:r>
              <a:rPr lang="el-GR" sz="1400" i="1" dirty="0"/>
              <a:t>σ</a:t>
            </a:r>
            <a:r>
              <a:rPr lang="el-GR" sz="1400" dirty="0"/>
              <a:t>(</a:t>
            </a:r>
            <a:r>
              <a:rPr lang="en-US" sz="1400" i="1" dirty="0"/>
              <a:t>x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dirty="0"/>
              <a:t>Полностью гладкая и дифференцируемая</a:t>
            </a:r>
          </a:p>
          <a:p>
            <a:r>
              <a:rPr lang="ru-RU" sz="1400" dirty="0"/>
              <a:t>Обеспечивает стабильный остаточный градиент для отрицательных </a:t>
            </a:r>
            <a:r>
              <a:rPr lang="ru-RU" sz="1400" i="1" dirty="0"/>
              <a:t>x</a:t>
            </a:r>
            <a:endParaRPr lang="ru-RU" sz="1400" dirty="0"/>
          </a:p>
          <a:p>
            <a:r>
              <a:rPr lang="ru-RU" sz="1400" dirty="0"/>
              <a:t>Немного улучшает точность по сравнению с GELU</a:t>
            </a:r>
          </a:p>
          <a:p>
            <a:pPr marL="0" indent="0">
              <a:buNone/>
            </a:pPr>
            <a:r>
              <a:rPr lang="ru-RU" sz="1400" dirty="0" err="1"/>
              <a:t>SwiGLU</a:t>
            </a:r>
            <a:r>
              <a:rPr lang="ru-RU" sz="1400" dirty="0"/>
              <a:t> - Формула:  </a:t>
            </a:r>
            <a:r>
              <a:rPr lang="en-US" sz="1400" dirty="0"/>
              <a:t> (</a:t>
            </a:r>
            <a:r>
              <a:rPr lang="en-US" sz="1400" i="1" dirty="0" err="1"/>
              <a:t>Wa</a:t>
            </a:r>
            <a:r>
              <a:rPr lang="en-US" sz="1400" i="1" dirty="0"/>
              <a:t>*x</a:t>
            </a:r>
            <a:r>
              <a:rPr lang="en-US" sz="1400" dirty="0"/>
              <a:t>)⊙</a:t>
            </a:r>
            <a:r>
              <a:rPr lang="en-US" sz="1400" dirty="0" err="1"/>
              <a:t>SiLU</a:t>
            </a:r>
            <a:r>
              <a:rPr lang="en-US" sz="1400" dirty="0"/>
              <a:t>(</a:t>
            </a:r>
            <a:r>
              <a:rPr lang="en-US" sz="1400" i="1" dirty="0"/>
              <a:t>Wb*x</a:t>
            </a:r>
            <a:r>
              <a:rPr lang="en-US" sz="1400" dirty="0"/>
              <a:t>) </a:t>
            </a:r>
          </a:p>
          <a:p>
            <a:r>
              <a:rPr lang="ru-RU" sz="1400" dirty="0"/>
              <a:t>Комбинирует </a:t>
            </a:r>
            <a:r>
              <a:rPr lang="ru-RU" sz="1400" dirty="0" err="1"/>
              <a:t>gating</a:t>
            </a:r>
            <a:r>
              <a:rPr lang="ru-RU" sz="1400" dirty="0"/>
              <a:t>-механизм и гладкую активацию</a:t>
            </a:r>
          </a:p>
          <a:p>
            <a:r>
              <a:rPr lang="ru-RU" sz="1400" dirty="0"/>
              <a:t>Повышенная ёмкость представления</a:t>
            </a:r>
          </a:p>
          <a:p>
            <a:r>
              <a:rPr lang="ru-RU" sz="1400" dirty="0"/>
              <a:t>Стандарт в современных масштабных LLM</a:t>
            </a:r>
          </a:p>
        </p:txBody>
      </p:sp>
      <p:sp>
        <p:nvSpPr>
          <p:cNvPr id="4" name="AutoShape 10">
            <a:extLst>
              <a:ext uri="{FF2B5EF4-FFF2-40B4-BE49-F238E27FC236}">
                <a16:creationId xmlns:a16="http://schemas.microsoft.com/office/drawing/2014/main" id="{86F6725B-A82E-6987-E576-208FA7C434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BE7C8E-AACF-6452-D4B2-0D1688EC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024" y="1825626"/>
            <a:ext cx="4553585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85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4774-E6F7-F17F-CC17-499FF789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55421-353C-7860-0DE1-DD118979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Нормализация</a:t>
            </a:r>
            <a:endParaRPr lang="en-US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A42491-E621-F2BD-4077-9B6F2EDFC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5731277" cy="4667249"/>
          </a:xfrm>
        </p:spPr>
        <p:txBody>
          <a:bodyPr>
            <a:normAutofit/>
          </a:bodyPr>
          <a:lstStyle/>
          <a:p>
            <a:r>
              <a:rPr lang="en-US" sz="1800" dirty="0"/>
              <a:t>Pre-</a:t>
            </a:r>
            <a:r>
              <a:rPr lang="en-US" sz="1800" dirty="0" err="1"/>
              <a:t>LayerNorm</a:t>
            </a:r>
            <a:r>
              <a:rPr lang="en-US" sz="1800" dirty="0"/>
              <a:t> </a:t>
            </a:r>
            <a:r>
              <a:rPr lang="ru-RU" sz="1800" dirty="0"/>
              <a:t>быстрее сходится и не так склонна к проблемам с градиентами</a:t>
            </a:r>
          </a:p>
          <a:p>
            <a:r>
              <a:rPr lang="en-US" sz="1800" dirty="0"/>
              <a:t>RMSNorm</a:t>
            </a:r>
            <a:r>
              <a:rPr lang="ru-RU" sz="1800" dirty="0"/>
              <a:t>  предлагает упрощённый подход без центрирования, что ускоряет вычисления и снижает шум оценок дисперсии, особенно при больших </a:t>
            </a:r>
            <a:r>
              <a:rPr lang="ru-RU" sz="1800" dirty="0" err="1"/>
              <a:t>батчах</a:t>
            </a:r>
            <a:r>
              <a:rPr lang="ru-RU" sz="1800" dirty="0"/>
              <a:t> и малых шагах обучения.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4" name="AutoShape 10">
            <a:extLst>
              <a:ext uri="{FF2B5EF4-FFF2-40B4-BE49-F238E27FC236}">
                <a16:creationId xmlns:a16="http://schemas.microsoft.com/office/drawing/2014/main" id="{5C1FFBE7-DB31-BA8C-CA5F-3214082F3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362" name="Picture 2" descr="Transformer】Difference of Post-LN and Pre-LN">
            <a:extLst>
              <a:ext uri="{FF2B5EF4-FFF2-40B4-BE49-F238E27FC236}">
                <a16:creationId xmlns:a16="http://schemas.microsoft.com/office/drawing/2014/main" id="{61AB8C74-B8E1-7E6F-D447-F17D4DA53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841" y="1752599"/>
            <a:ext cx="3936036" cy="365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Rohan Paul on X: &quot;RMSNorm (Root Mean Square Layer Normalization) official  implementations for llama (from HF Transformers repo) 📌 RMSNorm is a  variation of Layer Normalization. This is particularly used in the">
            <a:extLst>
              <a:ext uri="{FF2B5EF4-FFF2-40B4-BE49-F238E27FC236}">
                <a16:creationId xmlns:a16="http://schemas.microsoft.com/office/drawing/2014/main" id="{D72246C4-41D9-38A9-68A1-863FBFB56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581400"/>
            <a:ext cx="238125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7540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1AE1-C1FB-F8D2-D42F-5A3A6984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042A6-76A2-B91F-4C36-D1203E34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MoE</a:t>
            </a:r>
            <a:r>
              <a:rPr lang="en-US" sz="3600" dirty="0"/>
              <a:t> – Mixture of Experts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35075-3781-B62E-0B2A-5919D3073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4097785" cy="35364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800" dirty="0"/>
              <a:t>Mixture </a:t>
            </a:r>
            <a:r>
              <a:rPr lang="ru-RU" sz="1800" dirty="0" err="1"/>
              <a:t>of</a:t>
            </a:r>
            <a:r>
              <a:rPr lang="ru-RU" sz="1800" dirty="0"/>
              <a:t> </a:t>
            </a:r>
            <a:r>
              <a:rPr lang="ru-RU" sz="1800" dirty="0" err="1"/>
              <a:t>Experts</a:t>
            </a:r>
            <a:r>
              <a:rPr lang="ru-RU" sz="1800" dirty="0"/>
              <a:t> делит обучение между множеством специализированных «экспертов» (подсетей). На каждом шаге механизм маршрутизации (</a:t>
            </a:r>
            <a:r>
              <a:rPr lang="ru-RU" sz="1800" dirty="0" err="1"/>
              <a:t>gating</a:t>
            </a:r>
            <a:r>
              <a:rPr lang="ru-RU" sz="1800" dirty="0"/>
              <a:t>) выбирает небольшое число экспертов для обработки конкретного входа. Это даёт два ключевых преимущества:</a:t>
            </a:r>
          </a:p>
          <a:p>
            <a:r>
              <a:rPr lang="ru-RU" sz="1800" dirty="0"/>
              <a:t>Линеаризация роста параметров: число параметров экспоненциально растёт с количеством экспертов, тогда как вычисления масштабируются лишь линейно с числом активированных экспертов.</a:t>
            </a:r>
          </a:p>
          <a:p>
            <a:r>
              <a:rPr lang="ru-RU" sz="1800" dirty="0" err="1"/>
              <a:t>Спарс-компьют</a:t>
            </a:r>
            <a:r>
              <a:rPr lang="ru-RU" sz="1800" dirty="0"/>
              <a:t>: экономия ресурсов, поскольку при каждом проходе активируется лишь часть сети.</a:t>
            </a:r>
          </a:p>
        </p:txBody>
      </p:sp>
      <p:sp>
        <p:nvSpPr>
          <p:cNvPr id="4" name="AutoShape 10">
            <a:extLst>
              <a:ext uri="{FF2B5EF4-FFF2-40B4-BE49-F238E27FC236}">
                <a16:creationId xmlns:a16="http://schemas.microsoft.com/office/drawing/2014/main" id="{693FBF6A-766B-680F-595C-3CFF96194D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3F0C81E-990F-0AFC-CCD0-3FD19EF29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742" y="1849214"/>
            <a:ext cx="5875254" cy="285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914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A55A-7AEE-1126-7026-A23996E7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C401E-029F-FA1D-BCB6-C3A6D41B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MoE</a:t>
            </a:r>
            <a:r>
              <a:rPr lang="en-US" sz="3600" dirty="0"/>
              <a:t> – Mixture of Experts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575A4-156C-D68D-EB41-FA969E507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360"/>
            <a:ext cx="4932286" cy="48148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dirty="0"/>
              <a:t>Эксперты - независимые нейросетевые модули (обычно FFN)</a:t>
            </a:r>
          </a:p>
          <a:p>
            <a:pPr marL="0" indent="0">
              <a:buNone/>
            </a:pPr>
            <a:r>
              <a:rPr lang="ru-RU" sz="1700" dirty="0" err="1"/>
              <a:t>Router</a:t>
            </a:r>
            <a:r>
              <a:rPr lang="ru-RU" sz="1700" dirty="0"/>
              <a:t> - небольшая нейросеть (часто линейный слой + </a:t>
            </a:r>
            <a:r>
              <a:rPr lang="ru-RU" sz="1700" dirty="0" err="1"/>
              <a:t>softmax</a:t>
            </a:r>
            <a:r>
              <a:rPr lang="ru-RU" sz="1700" dirty="0"/>
              <a:t>), которая решает, каким экспертам отправить входные данные. На выходе роутера — вероятностное распределение над экспертами.</a:t>
            </a:r>
          </a:p>
          <a:p>
            <a:pPr marL="0" indent="0">
              <a:buNone/>
            </a:pPr>
            <a:r>
              <a:rPr lang="ru-RU" sz="1700" dirty="0"/>
              <a:t>Активируются только выбранные эксперты, остальные "спят" — это экономит ресурсы.</a:t>
            </a:r>
          </a:p>
          <a:p>
            <a:pPr marL="0" indent="0">
              <a:buNone/>
            </a:pPr>
            <a:r>
              <a:rPr lang="ru-RU" sz="1700" dirty="0"/>
              <a:t>Примерный </a:t>
            </a:r>
            <a:r>
              <a:rPr lang="ru-RU" sz="1700" dirty="0" err="1"/>
              <a:t>пайплайн</a:t>
            </a:r>
            <a:r>
              <a:rPr lang="ru-RU" sz="1700" dirty="0"/>
              <a:t> работы:</a:t>
            </a:r>
          </a:p>
          <a:p>
            <a:r>
              <a:rPr lang="ru-RU" sz="1700" dirty="0"/>
              <a:t>Токен (или набор токенов) проходит через </a:t>
            </a:r>
            <a:r>
              <a:rPr lang="ru-RU" sz="1700" dirty="0" err="1"/>
              <a:t>self-attention</a:t>
            </a:r>
            <a:endParaRPr lang="ru-RU" sz="1700" dirty="0"/>
          </a:p>
          <a:p>
            <a:r>
              <a:rPr lang="ru-RU" sz="1700" dirty="0"/>
              <a:t>Для каждого токена </a:t>
            </a:r>
            <a:r>
              <a:rPr lang="ru-RU" sz="1700" dirty="0" err="1"/>
              <a:t>router</a:t>
            </a:r>
            <a:r>
              <a:rPr lang="ru-RU" sz="1700" dirty="0"/>
              <a:t> предсказывает топ-k экспертов (обычно k=1 или 2)</a:t>
            </a:r>
          </a:p>
          <a:p>
            <a:r>
              <a:rPr lang="ru-RU" sz="1700" dirty="0"/>
              <a:t>Токен обрабатывается только выбранными экспертами, их выходы взвешиваются</a:t>
            </a:r>
          </a:p>
          <a:p>
            <a:r>
              <a:rPr lang="ru-RU" sz="1700" dirty="0"/>
              <a:t>Результаты экспертов суммируются и передаются дальше по сети</a:t>
            </a:r>
          </a:p>
        </p:txBody>
      </p:sp>
      <p:sp>
        <p:nvSpPr>
          <p:cNvPr id="4" name="AutoShape 10">
            <a:extLst>
              <a:ext uri="{FF2B5EF4-FFF2-40B4-BE49-F238E27FC236}">
                <a16:creationId xmlns:a16="http://schemas.microsoft.com/office/drawing/2014/main" id="{3E9736D6-EE46-53D4-7C73-008F1E0371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A2E974-67C0-4342-95C7-1A880BFC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615" y="1807187"/>
            <a:ext cx="5518775" cy="32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37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2181</Words>
  <Application>Microsoft Office PowerPoint</Application>
  <PresentationFormat>Широкоэкранный</PresentationFormat>
  <Paragraphs>197</Paragraphs>
  <Slides>43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Тема Office</vt:lpstr>
      <vt:lpstr>Эволюция трансформеров до наших дней</vt:lpstr>
      <vt:lpstr>Encoder VS Decoder VS Encoder-Decoder</vt:lpstr>
      <vt:lpstr>BERT</vt:lpstr>
      <vt:lpstr>BERT – постановка задачи</vt:lpstr>
      <vt:lpstr>BERT – представление данных на входе</vt:lpstr>
      <vt:lpstr>BERT – encoder-only модель</vt:lpstr>
      <vt:lpstr>BERT – дообучение (finetuning)</vt:lpstr>
      <vt:lpstr>BERT – результаты</vt:lpstr>
      <vt:lpstr>50 оттенков BERT-моделей</vt:lpstr>
      <vt:lpstr>RoBERTa</vt:lpstr>
      <vt:lpstr>DistilBERT</vt:lpstr>
      <vt:lpstr>ALBERT</vt:lpstr>
      <vt:lpstr>ALBERT – факторизация эмбеддингов</vt:lpstr>
      <vt:lpstr>ALBERT – Sentence Order Prediction</vt:lpstr>
      <vt:lpstr>ALBERT – шэринг параметров</vt:lpstr>
      <vt:lpstr>GPT - Generative Pre-trained Transformer</vt:lpstr>
      <vt:lpstr>GPT 1 &amp; 2</vt:lpstr>
      <vt:lpstr>GPT-3</vt:lpstr>
      <vt:lpstr>GPT-3 Few-Shot Learning</vt:lpstr>
      <vt:lpstr>T5 (Text-to-Text Transfer Transformer)</vt:lpstr>
      <vt:lpstr>Почему трансформер победил?</vt:lpstr>
      <vt:lpstr>Почему трансформер победил?</vt:lpstr>
      <vt:lpstr>Позиционное кодирование – что не так?</vt:lpstr>
      <vt:lpstr>Обучаемые эмбеддинги</vt:lpstr>
      <vt:lpstr>Sinusoidal Positional Encoding</vt:lpstr>
      <vt:lpstr>RPE - Relative Positional Encoding</vt:lpstr>
      <vt:lpstr>RoPE - Rotary Position Embedding</vt:lpstr>
      <vt:lpstr>Positional Interpolation</vt:lpstr>
      <vt:lpstr>Оригинальный attention</vt:lpstr>
      <vt:lpstr>Sparse Attention</vt:lpstr>
      <vt:lpstr>Reformer</vt:lpstr>
      <vt:lpstr>Linear Attention</vt:lpstr>
      <vt:lpstr>Linear Attention</vt:lpstr>
      <vt:lpstr>Linear Attention</vt:lpstr>
      <vt:lpstr>MHA VS GQA VS MQA VS MLA</vt:lpstr>
      <vt:lpstr>FlashAttention</vt:lpstr>
      <vt:lpstr>FlashAttention</vt:lpstr>
      <vt:lpstr>FlashAttention</vt:lpstr>
      <vt:lpstr> FlashAttention 1/2/3</vt:lpstr>
      <vt:lpstr>Функции активации</vt:lpstr>
      <vt:lpstr>Нормализация</vt:lpstr>
      <vt:lpstr>MoE – Mixture of Experts</vt:lpstr>
      <vt:lpstr>MoE – Mixture of Experts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Кристина Желтова</dc:creator>
  <cp:lastModifiedBy>Кристина Желтова</cp:lastModifiedBy>
  <cp:revision>82</cp:revision>
  <dcterms:created xsi:type="dcterms:W3CDTF">2023-12-06T20:15:28Z</dcterms:created>
  <dcterms:modified xsi:type="dcterms:W3CDTF">2026-03-06T12:25:38Z</dcterms:modified>
</cp:coreProperties>
</file>